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a5669161b44c9b" /><Relationship Type="http://schemas.openxmlformats.org/officeDocument/2006/relationships/extended-properties" Target="/docProps/app.xml" Id="R62ad57c9d77141e4" /><Relationship Type="http://schemas.openxmlformats.org/officeDocument/2006/relationships/officeDocument" Target="/ppt/presentation.xml" Id="Rcbaefb6fdbec4a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048fa597634b30"/>
  </p:sldMasterIdLst>
  <p:notesMasterIdLst>
    <p:notesMasterId xmlns:r="http://schemas.openxmlformats.org/officeDocument/2006/relationships" r:id="R63dcbc7fa86d4ded"/>
  </p:notesMasterIdLst>
  <p:sldIdLst>
    <p:sldId xmlns:r="http://schemas.openxmlformats.org/officeDocument/2006/relationships" id="256" r:id="R27b5262efb4d47d4"/>
    <p:sldId xmlns:r="http://schemas.openxmlformats.org/officeDocument/2006/relationships" id="257" r:id="R7f240b5c080245a4"/>
    <p:sldId xmlns:r="http://schemas.openxmlformats.org/officeDocument/2006/relationships" id="258" r:id="R9534d7b855944426"/>
    <p:sldId xmlns:r="http://schemas.openxmlformats.org/officeDocument/2006/relationships" id="259" r:id="Rca255818b3ba4faa"/>
    <p:sldId xmlns:r="http://schemas.openxmlformats.org/officeDocument/2006/relationships" id="260" r:id="Ra1d696d3e1424811"/>
    <p:sldId xmlns:r="http://schemas.openxmlformats.org/officeDocument/2006/relationships" id="261" r:id="Rdd86c433e90143ae"/>
    <p:sldId xmlns:r="http://schemas.openxmlformats.org/officeDocument/2006/relationships" id="262" r:id="R011b114cb71d4a58"/>
    <p:sldId xmlns:r="http://schemas.openxmlformats.org/officeDocument/2006/relationships" id="263" r:id="R30cd22704de34de0"/>
    <p:sldId xmlns:r="http://schemas.openxmlformats.org/officeDocument/2006/relationships" id="264" r:id="R9909f93e3b194912"/>
    <p:sldId xmlns:r="http://schemas.openxmlformats.org/officeDocument/2006/relationships" id="265" r:id="Rde1a295d89dc4207"/>
    <p:sldId xmlns:r="http://schemas.openxmlformats.org/officeDocument/2006/relationships" id="266" r:id="R85ae7622db3041cc"/>
    <p:sldId xmlns:r="http://schemas.openxmlformats.org/officeDocument/2006/relationships" id="267" r:id="R41a6b1751f25479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60fa250df5437a" /><Relationship Type="http://schemas.openxmlformats.org/officeDocument/2006/relationships/slideMaster" Target="/ppt/slideMasters/slideMaster1.xml" Id="Rc0048fa597634b30" /><Relationship Type="http://schemas.openxmlformats.org/officeDocument/2006/relationships/notesMaster" Target="/ppt/notesMasters/notesMaster1.xml" Id="R63dcbc7fa86d4ded" /><Relationship Type="http://schemas.openxmlformats.org/officeDocument/2006/relationships/presProps" Target="/ppt/presProps.xml" Id="Re9f288df46994ad2" /><Relationship Type="http://schemas.openxmlformats.org/officeDocument/2006/relationships/tableStyles" Target="/ppt/tableStyles.xml" Id="R996d47e44bc349c1" /><Relationship Type="http://schemas.openxmlformats.org/officeDocument/2006/relationships/slide" Target="/ppt/slides/slide1.xml" Id="R27b5262efb4d47d4" /><Relationship Type="http://schemas.openxmlformats.org/officeDocument/2006/relationships/slide" Target="/ppt/slides/slide2.xml" Id="R7f240b5c080245a4" /><Relationship Type="http://schemas.openxmlformats.org/officeDocument/2006/relationships/slide" Target="/ppt/slides/slide3.xml" Id="R9534d7b855944426" /><Relationship Type="http://schemas.openxmlformats.org/officeDocument/2006/relationships/slide" Target="/ppt/slides/slide4.xml" Id="Rca255818b3ba4faa" /><Relationship Type="http://schemas.openxmlformats.org/officeDocument/2006/relationships/slide" Target="/ppt/slides/slide5.xml" Id="Ra1d696d3e1424811" /><Relationship Type="http://schemas.openxmlformats.org/officeDocument/2006/relationships/slide" Target="/ppt/slides/slide6.xml" Id="Rdd86c433e90143ae" /><Relationship Type="http://schemas.openxmlformats.org/officeDocument/2006/relationships/slide" Target="/ppt/slides/slide7.xml" Id="R011b114cb71d4a58" /><Relationship Type="http://schemas.openxmlformats.org/officeDocument/2006/relationships/slide" Target="/ppt/slides/slide8.xml" Id="R30cd22704de34de0" /><Relationship Type="http://schemas.openxmlformats.org/officeDocument/2006/relationships/slide" Target="/ppt/slides/slide9.xml" Id="R9909f93e3b194912" /><Relationship Type="http://schemas.openxmlformats.org/officeDocument/2006/relationships/slide" Target="/ppt/slides/slide10.xml" Id="Rde1a295d89dc4207" /><Relationship Type="http://schemas.openxmlformats.org/officeDocument/2006/relationships/slide" Target="/ppt/slides/slide11.xml" Id="R85ae7622db3041cc" /><Relationship Type="http://schemas.openxmlformats.org/officeDocument/2006/relationships/slide" Target="/ppt/slides/slide12.xml" Id="R41a6b1751f2547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8fd0c44c8040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b8cbcc0d704c28" /><Relationship Type="http://schemas.openxmlformats.org/officeDocument/2006/relationships/notesMaster" Target="/ppt/notesMasters/notesMaster1.xml" Id="Rbe0ea4bf8f0047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28a9ae11c34e52" /><Relationship Type="http://schemas.openxmlformats.org/officeDocument/2006/relationships/notesMaster" Target="/ppt/notesMasters/notesMaster1.xml" Id="R9eb1fb47994947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2b6a1540054668" /><Relationship Type="http://schemas.openxmlformats.org/officeDocument/2006/relationships/notesMaster" Target="/ppt/notesMasters/notesMaster1.xml" Id="R9979c6b8b6bd4f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cbafae268d4618" /><Relationship Type="http://schemas.openxmlformats.org/officeDocument/2006/relationships/notesMaster" Target="/ppt/notesMasters/notesMaster1.xml" Id="Rf513875658604b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bf87a9fe8d4811" /><Relationship Type="http://schemas.openxmlformats.org/officeDocument/2006/relationships/notesMaster" Target="/ppt/notesMasters/notesMaster1.xml" Id="R89fc83c7325344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caccab7df74b74" /><Relationship Type="http://schemas.openxmlformats.org/officeDocument/2006/relationships/notesMaster" Target="/ppt/notesMasters/notesMaster1.xml" Id="Rb7079eed7d6e4d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5e9624d13440b4" /><Relationship Type="http://schemas.openxmlformats.org/officeDocument/2006/relationships/notesMaster" Target="/ppt/notesMasters/notesMaster1.xml" Id="R11e66113a5a540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376aa236164c4e" /><Relationship Type="http://schemas.openxmlformats.org/officeDocument/2006/relationships/notesMaster" Target="/ppt/notesMasters/notesMaster1.xml" Id="Re7c656ed335a4a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dd9600bb3a4708" /><Relationship Type="http://schemas.openxmlformats.org/officeDocument/2006/relationships/notesMaster" Target="/ppt/notesMasters/notesMaster1.xml" Id="R8cd90a69cc9644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d2964ddd5b4304" /><Relationship Type="http://schemas.openxmlformats.org/officeDocument/2006/relationships/notesMaster" Target="/ppt/notesMasters/notesMaster1.xml" Id="Ra9e54e04d6894b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e8bbcb946d4cf7" /><Relationship Type="http://schemas.openxmlformats.org/officeDocument/2006/relationships/notesMaster" Target="/ppt/notesMasters/notesMaster1.xml" Id="R94fa010a0c6f46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95d4915ec54b35" /><Relationship Type="http://schemas.openxmlformats.org/officeDocument/2006/relationships/notesMaster" Target="/ppt/notesMasters/notesMaster1.xml" Id="R1ca981a128bc40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9c6523898044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f137e17a3c4d1c" /><Relationship Type="http://schemas.openxmlformats.org/officeDocument/2006/relationships/slideLayout" Target="/ppt/slideLayouts/slideLayout1.xml" Id="R60d5264efe124e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d5264efe124e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8044680f64102" /><Relationship Type="http://schemas.openxmlformats.org/officeDocument/2006/relationships/image" Target="/ppt/media/image.png" Id="R28afda27836242e5" /><Relationship Type="http://schemas.openxmlformats.org/officeDocument/2006/relationships/notesSlide" Target="/ppt/notesSlides/notesSlide1.xml" Id="Rc8ba5beaecbb41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46871bee741e7" /><Relationship Type="http://schemas.openxmlformats.org/officeDocument/2006/relationships/notesSlide" Target="/ppt/notesSlides/notesSlide2.xml" Id="R1c05de4f56384a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9b167eff34cd5" /><Relationship Type="http://schemas.openxmlformats.org/officeDocument/2006/relationships/notesSlide" Target="/ppt/notesSlides/notesSlide3.xml" Id="R42cd1734aed04a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22079ea6d415e" /><Relationship Type="http://schemas.openxmlformats.org/officeDocument/2006/relationships/notesSlide" Target="/ppt/notesSlides/notesSlide4.xml" Id="R97f95b38abe74d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85531709a491c" /><Relationship Type="http://schemas.openxmlformats.org/officeDocument/2006/relationships/image" Target="/ppt/media/image2.png" Id="R71bc2f7df58b4941" /><Relationship Type="http://schemas.openxmlformats.org/officeDocument/2006/relationships/notesSlide" Target="/ppt/notesSlides/notesSlide5.xml" Id="Rf0eb76f66c4242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4f0055f394f08" /><Relationship Type="http://schemas.openxmlformats.org/officeDocument/2006/relationships/image" Target="/ppt/media/image3.png" Id="R403e163f3ccb4cc3" /><Relationship Type="http://schemas.openxmlformats.org/officeDocument/2006/relationships/notesSlide" Target="/ppt/notesSlides/notesSlide6.xml" Id="R3f8d1949bb0240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5edc6a065445c" /><Relationship Type="http://schemas.openxmlformats.org/officeDocument/2006/relationships/notesSlide" Target="/ppt/notesSlides/notesSlide7.xml" Id="R5d33140ae9b446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63b61b1ec4e14" /><Relationship Type="http://schemas.openxmlformats.org/officeDocument/2006/relationships/notesSlide" Target="/ppt/notesSlides/notesSlide8.xml" Id="R020d0836f71040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5a1ab4fda48f5" /><Relationship Type="http://schemas.openxmlformats.org/officeDocument/2006/relationships/notesSlide" Target="/ppt/notesSlides/notesSlide9.xml" Id="Rc14799e43abc4b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78c1e20ce49d4" /><Relationship Type="http://schemas.openxmlformats.org/officeDocument/2006/relationships/chart" Target="/ppt/slides/charts/chart1.xml" Id="R1f389345986d4f45" /><Relationship Type="http://schemas.openxmlformats.org/officeDocument/2006/relationships/notesSlide" Target="/ppt/notesSlides/notesSlide10.xml" Id="Re94bd3aac75644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aaef5d43c4d7b" /><Relationship Type="http://schemas.openxmlformats.org/officeDocument/2006/relationships/notesSlide" Target="/ppt/notesSlides/notesSlide11.xml" Id="R4c59259aba984e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ff7b620ef4d67" /><Relationship Type="http://schemas.openxmlformats.org/officeDocument/2006/relationships/notesSlide" Target="/ppt/notesSlides/notesSlide12.xml" Id="R5e5a23c20d1a45d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Files</c:v>
          </c:tx>
          <c:spPr>
            <a:solidFill xmlns:a="http://schemas.openxmlformats.org/drawingml/2006/main">
              <a:srgbClr val="0B6B45"/>
            </a:solidFill>
          </c:spPr>
          <c:cat>
            <c:strLit>
              <c:ptCount val="5"/>
              <c:pt idx="0">
                <c:v>Python</c:v>
              </c:pt>
              <c:pt idx="1">
                <c:v>Tests</c:v>
              </c:pt>
              <c:pt idx="2">
                <c:v>Templates</c:v>
              </c:pt>
              <c:pt idx="3">
                <c:v>JavaScript</c:v>
              </c:pt>
              <c:pt idx="4">
                <c:v>Migrations</c:v>
              </c:pt>
            </c:strLit>
          </c:cat>
          <c:val>
            <c:numLit>
              <c:formatCode>General</c:formatCode>
              <c:ptCount val="5"/>
              <c:pt idx="0">
                <c:v>497</c:v>
              </c:pt>
              <c:pt idx="1">
                <c:v>180</c:v>
              </c:pt>
              <c:pt idx="2">
                <c:v>147</c:v>
              </c:pt>
              <c:pt idx="3">
                <c:v>44</c:v>
              </c:pt>
              <c:pt idx="4">
                <c:v>43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green">
            <a:extLst xmlns:a="http://schemas.openxmlformats.org/drawingml/2006/main">
              <a:ext uri="{FF2B5EF4-FFF2-40B4-BE49-F238E27FC236}">
                <a16:creationId xmlns:a16="http://schemas.microsoft.com/office/drawing/2014/main" id="{514EDFC9-3A08-43EA-A02B-A721BE87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45"/>
          </a:solidFill>
          <a:ln xmlns:a="http://schemas.openxmlformats.org/drawingml/2006/main" w="0">
            <a:solidFill>
              <a:srgbClr val="0B6B45"/>
            </a:solidFill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EB3FB21-945A-482D-B57C-01300F34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KINJO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3EE4D9E-FCB7-433C-AB61-0DBDFBF4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6096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08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Jordan’s early-childhood operations and intelligence platform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A28B715-F1AE-44E8-98CB-57E8B844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5429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A stakeholder overview of significance, capability, evidence, and rollout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8673260C-750E-4BBA-BE34-9B9AC8BD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3810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Repository snapshot • 15 July 2026</a:t>
            </a:r>
          </a:p>
        </p:txBody>
      </p:sp>
      <p:sp>
        <p:nvSpPr>
          <p:cNvPr id="6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99A98B7D-32B4-4E93-9D8F-F91EEE60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9100"/>
            <a:ext cx="4667250" cy="56197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fda27836242e5"/>
          <a:stretch xmlns:a="http://schemas.openxmlformats.org/drawingml/2006/main"/>
        </p:blipFill>
        <p:spPr>
          <a:xfrm xmlns:a="http://schemas.openxmlformats.org/drawingml/2006/main">
            <a:off x="7381875" y="1166813"/>
            <a:ext cx="4143375" cy="4143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1141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">
            <a:extLst xmlns:a="http://schemas.openxmlformats.org/drawingml/2006/main">
              <a:ext uri="{FF2B5EF4-FFF2-40B4-BE49-F238E27FC236}">
                <a16:creationId xmlns:a16="http://schemas.microsoft.com/office/drawing/2014/main" id="{17BBD63A-E8C1-48B6-BF51-0D8BA753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KINJO PROJECT OVERVIEW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C18BFEF-5325-4ABB-8816-FB3C5A7D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953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389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Kinjo connects daily nursery activity to accountable public value</a:t>
            </a:r>
          </a:p>
        </p:txBody>
      </p:sp>
      <p:cxnSp>
        <p:nvCxnSpPr>
          <p:cNvPr id="20" name="title-rule-2"/>
          <p:cNvCxnSpPr/>
          <p:nvPr/>
        </p:nvCxnSpPr>
        <p:spPr>
          <a:xfrm xmlns:a="http://schemas.openxmlformats.org/drawingml/2006/main">
            <a:off x="400050" y="14382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469949F1-4CAE-4A0D-9D19-07E9798B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v1-label">
            <a:extLst xmlns:a="http://schemas.openxmlformats.org/drawingml/2006/main">
              <a:ext uri="{FF2B5EF4-FFF2-40B4-BE49-F238E27FC236}">
                <a16:creationId xmlns:a16="http://schemas.microsoft.com/office/drawing/2014/main" id="{C640578F-2573-44D1-A133-CB29AF88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333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CHILDREN &amp; FAMILIES</a:t>
            </a:r>
          </a:p>
        </p:txBody>
      </p:sp>
      <p:sp>
        <p:nvSpPr>
          <p:cNvPr id="6" name="v1-title">
            <a:extLst xmlns:a="http://schemas.openxmlformats.org/drawingml/2006/main">
              <a:ext uri="{FF2B5EF4-FFF2-40B4-BE49-F238E27FC236}">
                <a16:creationId xmlns:a16="http://schemas.microsoft.com/office/drawing/2014/main" id="{6678EEE3-DA70-42D1-9D2A-A8D91DFC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3333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One connected journey</a:t>
            </a:r>
          </a:p>
        </p:txBody>
      </p:sp>
      <p:sp>
        <p:nvSpPr>
          <p:cNvPr id="7" name="v1-body">
            <a:extLst xmlns:a="http://schemas.openxmlformats.org/drawingml/2006/main">
              <a:ext uri="{FF2B5EF4-FFF2-40B4-BE49-F238E27FC236}">
                <a16:creationId xmlns:a16="http://schemas.microsoft.com/office/drawing/2014/main" id="{D3243F45-BD64-4EC6-BA66-6BC31ACA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33337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Enrollment, attendance, absence requests, daily reports, messaging, and portfolios stay connected around the child.</a:t>
            </a:r>
          </a:p>
        </p:txBody>
      </p:sp>
      <p:cxnSp>
        <p:nvCxnSpPr>
          <p:cNvPr id="25" name="vline1"/>
          <p:cNvCxnSpPr/>
          <p:nvPr/>
        </p:nvCxnSpPr>
        <p:spPr>
          <a:xfrm xmlns:a="http://schemas.openxmlformats.org/drawingml/2006/main">
            <a:off x="3943350" y="1847850"/>
            <a:ext cx="953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v2-label">
            <a:extLst xmlns:a="http://schemas.openxmlformats.org/drawingml/2006/main">
              <a:ext uri="{FF2B5EF4-FFF2-40B4-BE49-F238E27FC236}">
                <a16:creationId xmlns:a16="http://schemas.microsoft.com/office/drawing/2014/main" id="{97AE105E-4538-4A75-BD86-B5306261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47850"/>
            <a:ext cx="333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NURSERY OPERATIONS</a:t>
            </a:r>
          </a:p>
        </p:txBody>
      </p:sp>
      <p:sp>
        <p:nvSpPr>
          <p:cNvPr id="10" name="v2-title">
            <a:extLst xmlns:a="http://schemas.openxmlformats.org/drawingml/2006/main">
              <a:ext uri="{FF2B5EF4-FFF2-40B4-BE49-F238E27FC236}">
                <a16:creationId xmlns:a16="http://schemas.microsoft.com/office/drawing/2014/main" id="{4F14F79C-0A5E-4002-9BD7-9DB4820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86000"/>
            <a:ext cx="3333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Work becomes visible</a:t>
            </a:r>
          </a:p>
        </p:txBody>
      </p:sp>
      <p:sp>
        <p:nvSpPr>
          <p:cNvPr id="11" name="v2-body">
            <a:extLst xmlns:a="http://schemas.openxmlformats.org/drawingml/2006/main">
              <a:ext uri="{FF2B5EF4-FFF2-40B4-BE49-F238E27FC236}">
                <a16:creationId xmlns:a16="http://schemas.microsoft.com/office/drawing/2014/main" id="{5BE28584-F2A1-4A97-BBE1-F676A480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33337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Managers and supervisors see capacity, staffing, attendance, incidents, compliance, and actions in a shared operating view.</a:t>
            </a:r>
          </a:p>
        </p:txBody>
      </p:sp>
      <p:cxnSp>
        <p:nvCxnSpPr>
          <p:cNvPr id="29" name="vline2"/>
          <p:cNvCxnSpPr/>
          <p:nvPr/>
        </p:nvCxnSpPr>
        <p:spPr>
          <a:xfrm xmlns:a="http://schemas.openxmlformats.org/drawingml/2006/main">
            <a:off x="7867650" y="1847850"/>
            <a:ext cx="953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v3-label">
            <a:extLst xmlns:a="http://schemas.openxmlformats.org/drawingml/2006/main">
              <a:ext uri="{FF2B5EF4-FFF2-40B4-BE49-F238E27FC236}">
                <a16:creationId xmlns:a16="http://schemas.microsoft.com/office/drawing/2014/main" id="{8B325702-2BA7-4A0F-AB73-54356561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47850"/>
            <a:ext cx="333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GOVERNMENT &amp; POLICY</a:t>
            </a:r>
          </a:p>
        </p:txBody>
      </p:sp>
      <p:sp>
        <p:nvSpPr>
          <p:cNvPr id="14" name="v3-title">
            <a:extLst xmlns:a="http://schemas.openxmlformats.org/drawingml/2006/main">
              <a:ext uri="{FF2B5EF4-FFF2-40B4-BE49-F238E27FC236}">
                <a16:creationId xmlns:a16="http://schemas.microsoft.com/office/drawing/2014/main" id="{097E4A3A-3CEF-4706-AB2E-9AD4E21C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0"/>
            <a:ext cx="3333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45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Evidence reaches decisions</a:t>
            </a:r>
          </a:p>
        </p:txBody>
      </p:sp>
      <p:sp>
        <p:nvSpPr>
          <p:cNvPr id="15" name="v3-body">
            <a:extLst xmlns:a="http://schemas.openxmlformats.org/drawingml/2006/main">
              <a:ext uri="{FF2B5EF4-FFF2-40B4-BE49-F238E27FC236}">
                <a16:creationId xmlns:a16="http://schemas.microsoft.com/office/drawing/2014/main" id="{E9D63602-4E89-42CE-AFBA-A2BF29FF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67050"/>
            <a:ext cx="33337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Aggregated KPIs, heat maps, alerts, agency reports, and audit trails support intervention, resource allocation, and oversight.</a:t>
            </a:r>
          </a:p>
        </p:txBody>
      </p:sp>
      <p:sp>
        <p:nvSpPr>
          <p:cNvPr id="16" name="v-takeaway">
            <a:extLst xmlns:a="http://schemas.openxmlformats.org/drawingml/2006/main">
              <a:ext uri="{FF2B5EF4-FFF2-40B4-BE49-F238E27FC236}">
                <a16:creationId xmlns:a16="http://schemas.microsoft.com/office/drawing/2014/main" id="{530EF2DA-150F-4693-BFF7-F5264F73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114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3F2C"/>
                </a:solidFill>
                <a:latin typeface="Arial"/>
                <a:ea typeface="Arial"/>
                <a:cs typeface="Arial"/>
              </a:defRPr>
            </a:pPr>
            <a:r>
              <a:t>The significance is the connection: one platform links service delivery, operational management, and national learning.</a:t>
            </a:r>
          </a:p>
        </p:txBody>
      </p:sp>
      <p:sp>
        <p:nvSpPr>
          <p:cNvPr id="17" name="source-2">
            <a:extLst xmlns:a="http://schemas.openxmlformats.org/drawingml/2006/main">
              <a:ext uri="{FF2B5EF4-FFF2-40B4-BE49-F238E27FC236}">
                <a16:creationId xmlns:a16="http://schemas.microsoft.com/office/drawing/2014/main" id="{788E4F47-94C4-4053-A349-8A33E788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Sources: models.py; POLICIES.md; docs/DATA_SCIENCE_ANALYTICS_PLAN.md</a:t>
            </a:r>
          </a:p>
        </p:txBody>
      </p:sp>
    </p:spTree>
    <p:extLst>
      <p:ext uri="{BB962C8B-B14F-4D97-AF65-F5344CB8AC3E}">
        <p14:creationId xmlns:p14="http://schemas.microsoft.com/office/powerpoint/2010/main" val="6561182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">
            <a:extLst xmlns:a="http://schemas.openxmlformats.org/drawingml/2006/main">
              <a:ext uri="{FF2B5EF4-FFF2-40B4-BE49-F238E27FC236}">
                <a16:creationId xmlns:a16="http://schemas.microsoft.com/office/drawing/2014/main" id="{66C79B45-6136-4FE9-9953-4931D085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KINJO PROJECT OVERVIEW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BF56A1D-19D2-4C23-8EB9-836D25D0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953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Four roles create one governed chain of responsibility</a:t>
            </a:r>
          </a:p>
        </p:txBody>
      </p:sp>
      <p:cxnSp>
        <p:nvCxnSpPr>
          <p:cNvPr id="27" name="title-rule-3"/>
          <p:cNvCxnSpPr/>
          <p:nvPr/>
        </p:nvCxnSpPr>
        <p:spPr>
          <a:xfrm xmlns:a="http://schemas.openxmlformats.org/drawingml/2006/main">
            <a:off x="400050" y="14382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F6FFE835-D51C-4B06-888A-68C8A435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cxnSp>
        <p:nvCxnSpPr>
          <p:cNvPr id="29" name="role-line"/>
          <p:cNvCxnSpPr/>
          <p:nvPr/>
        </p:nvCxnSpPr>
        <p:spPr>
          <a:xfrm xmlns:a="http://schemas.openxmlformats.org/drawingml/2006/main">
            <a:off x="809625" y="3124200"/>
            <a:ext cx="93345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B6B45"/>
            </a:solidFill>
            <a:prstDash val="solid"/>
          </a:ln>
        </p:spPr>
      </p:cxnSp>
      <p:sp>
        <p:nvSpPr>
          <p:cNvPr id="6" name="role-dot-0">
            <a:extLst xmlns:a="http://schemas.openxmlformats.org/drawingml/2006/main">
              <a:ext uri="{FF2B5EF4-FFF2-40B4-BE49-F238E27FC236}">
                <a16:creationId xmlns:a16="http://schemas.microsoft.com/office/drawing/2014/main" id="{810F3F00-A6A7-4C06-A8CE-3C0181D5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19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5"/>
          </a:solidFill>
        </p:spPr>
      </p:sp>
      <p:sp>
        <p:nvSpPr>
          <p:cNvPr id="7" name="role-dot-1">
            <a:extLst xmlns:a="http://schemas.openxmlformats.org/drawingml/2006/main">
              <a:ext uri="{FF2B5EF4-FFF2-40B4-BE49-F238E27FC236}">
                <a16:creationId xmlns:a16="http://schemas.microsoft.com/office/drawing/2014/main" id="{32746520-15DE-49C0-A245-90CE0532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19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5"/>
          </a:solidFill>
        </p:spPr>
      </p:sp>
      <p:sp>
        <p:nvSpPr>
          <p:cNvPr id="8" name="role-dot-2">
            <a:extLst xmlns:a="http://schemas.openxmlformats.org/drawingml/2006/main">
              <a:ext uri="{FF2B5EF4-FFF2-40B4-BE49-F238E27FC236}">
                <a16:creationId xmlns:a16="http://schemas.microsoft.com/office/drawing/2014/main" id="{C843F2DD-0399-491D-8600-52F42D44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19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5"/>
          </a:solidFill>
        </p:spPr>
      </p:sp>
      <p:sp>
        <p:nvSpPr>
          <p:cNvPr id="9" name="role-dot-3">
            <a:extLst xmlns:a="http://schemas.openxmlformats.org/drawingml/2006/main">
              <a:ext uri="{FF2B5EF4-FFF2-40B4-BE49-F238E27FC236}">
                <a16:creationId xmlns:a16="http://schemas.microsoft.com/office/drawing/2014/main" id="{F1A4EDDA-8B42-4787-B38D-005A3D9F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19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9A12"/>
          </a:solidFill>
        </p:spPr>
      </p:sp>
      <p:sp>
        <p:nvSpPr>
          <p:cNvPr id="10" name="role1">
            <a:extLst xmlns:a="http://schemas.openxmlformats.org/drawingml/2006/main">
              <a:ext uri="{FF2B5EF4-FFF2-40B4-BE49-F238E27FC236}">
                <a16:creationId xmlns:a16="http://schemas.microsoft.com/office/drawing/2014/main" id="{6830F22A-BB2E-41CB-9615-06FE1659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PARENT</a:t>
            </a:r>
          </a:p>
        </p:txBody>
      </p:sp>
      <p:sp>
        <p:nvSpPr>
          <p:cNvPr id="11" name="role1t">
            <a:extLst xmlns:a="http://schemas.openxmlformats.org/drawingml/2006/main">
              <a:ext uri="{FF2B5EF4-FFF2-40B4-BE49-F238E27FC236}">
                <a16:creationId xmlns:a16="http://schemas.microsoft.com/office/drawing/2014/main" id="{D084DC84-7BE5-4CB5-ABF3-35D6CE10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05050"/>
            <a:ext cx="214312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17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Initiates and follows</a:t>
            </a:r>
          </a:p>
        </p:txBody>
      </p:sp>
      <p:sp>
        <p:nvSpPr>
          <p:cNvPr id="12" name="role1b">
            <a:extLst xmlns:a="http://schemas.openxmlformats.org/drawingml/2006/main">
              <a:ext uri="{FF2B5EF4-FFF2-40B4-BE49-F238E27FC236}">
                <a16:creationId xmlns:a16="http://schemas.microsoft.com/office/drawing/2014/main" id="{8B431D67-83B9-476C-98CB-12DDFE9B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81400"/>
            <a:ext cx="2143125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Enrollment • absence • messages • child reports</a:t>
            </a:r>
          </a:p>
        </p:txBody>
      </p:sp>
      <p:sp>
        <p:nvSpPr>
          <p:cNvPr id="13" name="role2">
            <a:extLst xmlns:a="http://schemas.openxmlformats.org/drawingml/2006/main">
              <a:ext uri="{FF2B5EF4-FFF2-40B4-BE49-F238E27FC236}">
                <a16:creationId xmlns:a16="http://schemas.microsoft.com/office/drawing/2014/main" id="{B42004E3-6C03-4D62-9AEB-07C356DE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MANAGER</a:t>
            </a:r>
          </a:p>
        </p:txBody>
      </p:sp>
      <p:sp>
        <p:nvSpPr>
          <p:cNvPr id="14" name="role2t">
            <a:extLst xmlns:a="http://schemas.openxmlformats.org/drawingml/2006/main">
              <a:ext uri="{FF2B5EF4-FFF2-40B4-BE49-F238E27FC236}">
                <a16:creationId xmlns:a16="http://schemas.microsoft.com/office/drawing/2014/main" id="{E27FA2D5-9F9F-4802-A681-4A0F3A2F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214312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Runs the nursery</a:t>
            </a:r>
          </a:p>
        </p:txBody>
      </p:sp>
      <p:sp>
        <p:nvSpPr>
          <p:cNvPr id="15" name="role2b">
            <a:extLst xmlns:a="http://schemas.openxmlformats.org/drawingml/2006/main">
              <a:ext uri="{FF2B5EF4-FFF2-40B4-BE49-F238E27FC236}">
                <a16:creationId xmlns:a16="http://schemas.microsoft.com/office/drawing/2014/main" id="{B470E98C-8A95-4B73-88EB-66C92847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81400"/>
            <a:ext cx="2143125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Classes • attendance • staffing • reports • incidents</a:t>
            </a:r>
          </a:p>
        </p:txBody>
      </p:sp>
      <p:sp>
        <p:nvSpPr>
          <p:cNvPr id="16" name="role3">
            <a:extLst xmlns:a="http://schemas.openxmlformats.org/drawingml/2006/main">
              <a:ext uri="{FF2B5EF4-FFF2-40B4-BE49-F238E27FC236}">
                <a16:creationId xmlns:a16="http://schemas.microsoft.com/office/drawing/2014/main" id="{7129EACA-93F3-4794-AE6C-E845347D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52625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SUPERVISOR</a:t>
            </a:r>
          </a:p>
        </p:txBody>
      </p:sp>
      <p:sp>
        <p:nvSpPr>
          <p:cNvPr id="17" name="role3t">
            <a:extLst xmlns:a="http://schemas.openxmlformats.org/drawingml/2006/main">
              <a:ext uri="{FF2B5EF4-FFF2-40B4-BE49-F238E27FC236}">
                <a16:creationId xmlns:a16="http://schemas.microsoft.com/office/drawing/2014/main" id="{26EBBA39-7188-4479-8453-0CC56560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05050"/>
            <a:ext cx="233362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Reviews and intervenes</a:t>
            </a:r>
          </a:p>
        </p:txBody>
      </p:sp>
      <p:sp>
        <p:nvSpPr>
          <p:cNvPr id="18" name="role3b">
            <a:extLst xmlns:a="http://schemas.openxmlformats.org/drawingml/2006/main">
              <a:ext uri="{FF2B5EF4-FFF2-40B4-BE49-F238E27FC236}">
                <a16:creationId xmlns:a16="http://schemas.microsoft.com/office/drawing/2014/main" id="{6EEAB5DF-4D95-4AE2-A0C1-411AF6E3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81400"/>
            <a:ext cx="2238375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Quality review • follow-up • escalations • action plans</a:t>
            </a:r>
          </a:p>
        </p:txBody>
      </p:sp>
      <p:sp>
        <p:nvSpPr>
          <p:cNvPr id="19" name="role4">
            <a:extLst xmlns:a="http://schemas.openxmlformats.org/drawingml/2006/main">
              <a:ext uri="{FF2B5EF4-FFF2-40B4-BE49-F238E27FC236}">
                <a16:creationId xmlns:a16="http://schemas.microsoft.com/office/drawing/2014/main" id="{74409A00-6301-4B36-88F6-02B37D2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9A12"/>
                </a:solidFill>
                <a:latin typeface="Arial"/>
                <a:ea typeface="Arial"/>
                <a:cs typeface="Arial"/>
              </a:defRPr>
            </a:pPr>
            <a:r>
              <a:t>ADMIN</a:t>
            </a:r>
          </a:p>
        </p:txBody>
      </p:sp>
      <p:sp>
        <p:nvSpPr>
          <p:cNvPr id="20" name="role4t">
            <a:extLst xmlns:a="http://schemas.openxmlformats.org/drawingml/2006/main">
              <a:ext uri="{FF2B5EF4-FFF2-40B4-BE49-F238E27FC236}">
                <a16:creationId xmlns:a16="http://schemas.microsoft.com/office/drawing/2014/main" id="{18B6DDCA-4057-4C13-88B8-EC4D4E64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2381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Governs the network</a:t>
            </a:r>
          </a:p>
        </p:txBody>
      </p:sp>
      <p:sp>
        <p:nvSpPr>
          <p:cNvPr id="21" name="role4b">
            <a:extLst xmlns:a="http://schemas.openxmlformats.org/drawingml/2006/main">
              <a:ext uri="{FF2B5EF4-FFF2-40B4-BE49-F238E27FC236}">
                <a16:creationId xmlns:a16="http://schemas.microsoft.com/office/drawing/2014/main" id="{B0D3C6A9-267C-4ACE-85AB-79639526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23812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Cross-network analytics • users • audit • agency reporting</a:t>
            </a:r>
          </a:p>
        </p:txBody>
      </p:sp>
      <p:sp>
        <p:nvSpPr>
          <p:cNvPr id="22" name="scope-note">
            <a:extLst xmlns:a="http://schemas.openxmlformats.org/drawingml/2006/main">
              <a:ext uri="{FF2B5EF4-FFF2-40B4-BE49-F238E27FC236}">
                <a16:creationId xmlns:a16="http://schemas.microsoft.com/office/drawing/2014/main" id="{ADB0A035-794A-4B02-9975-25A2DF6B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95875"/>
            <a:ext cx="10810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F2EC"/>
          </a:solidFill>
          <a:ln xmlns:a="http://schemas.openxmlformats.org/drawingml/2006/main" w="0">
            <a:solidFill>
              <a:srgbClr val="E7F2EC"/>
            </a:solidFill>
            <a:prstDash val="solid"/>
          </a:ln>
        </p:spPr>
      </p:sp>
      <p:sp>
        <p:nvSpPr>
          <p:cNvPr id="23" name="scope-copy">
            <a:extLst xmlns:a="http://schemas.openxmlformats.org/drawingml/2006/main">
              <a:ext uri="{FF2B5EF4-FFF2-40B4-BE49-F238E27FC236}">
                <a16:creationId xmlns:a16="http://schemas.microsoft.com/office/drawing/2014/main" id="{F226B3C7-8C7D-48E5-9A70-E457271E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38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3F2C"/>
                </a:solidFill>
                <a:latin typeface="Arial"/>
                <a:ea typeface="Arial"/>
                <a:cs typeface="Arial"/>
              </a:defRPr>
            </a:pPr>
            <a:r>
              <a:t>Scope is enforced at the data layer: managers and supervisors are restricted to assigned kindergartens; administrators govern across the network.</a:t>
            </a:r>
          </a:p>
        </p:txBody>
      </p:sp>
      <p:sp>
        <p:nvSpPr>
          <p:cNvPr id="24" name="source-3">
            <a:extLst xmlns:a="http://schemas.openxmlformats.org/drawingml/2006/main">
              <a:ext uri="{FF2B5EF4-FFF2-40B4-BE49-F238E27FC236}">
                <a16:creationId xmlns:a16="http://schemas.microsoft.com/office/drawing/2014/main" id="{79584329-E34C-47FC-B9E3-8098A532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Sources: models.py UserRole; dependencies.py role and kindergarten scoping</a:t>
            </a:r>
          </a:p>
        </p:txBody>
      </p:sp>
    </p:spTree>
    <p:extLst>
      <p:ext uri="{BB962C8B-B14F-4D97-AF65-F5344CB8AC3E}">
        <p14:creationId xmlns:p14="http://schemas.microsoft.com/office/powerpoint/2010/main" val="11929244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">
            <a:extLst xmlns:a="http://schemas.openxmlformats.org/drawingml/2006/main">
              <a:ext uri="{FF2B5EF4-FFF2-40B4-BE49-F238E27FC236}">
                <a16:creationId xmlns:a16="http://schemas.microsoft.com/office/drawing/2014/main" id="{E3CDC711-B966-4D26-ABFF-7879AAE3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KINJO PROJECT OVERVIEW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CF13B1C-1FA5-429A-9747-F10860B8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953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The platform closes the loop from intake to intervention</a:t>
            </a:r>
          </a:p>
        </p:txBody>
      </p:sp>
      <p:cxnSp>
        <p:nvCxnSpPr>
          <p:cNvPr id="23" name="title-rule-4"/>
          <p:cNvCxnSpPr/>
          <p:nvPr/>
        </p:nvCxnSpPr>
        <p:spPr>
          <a:xfrm xmlns:a="http://schemas.openxmlformats.org/drawingml/2006/main">
            <a:off x="400050" y="14382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7F96C00A-2191-47E8-A27A-AF88CA65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5" name="lc1n">
            <a:extLst xmlns:a="http://schemas.openxmlformats.org/drawingml/2006/main">
              <a:ext uri="{FF2B5EF4-FFF2-40B4-BE49-F238E27FC236}">
                <a16:creationId xmlns:a16="http://schemas.microsoft.com/office/drawing/2014/main" id="{2115ED0C-D30E-49CA-B38C-97332041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59A12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6" name="lc1t">
            <a:extLst xmlns:a="http://schemas.openxmlformats.org/drawingml/2006/main">
              <a:ext uri="{FF2B5EF4-FFF2-40B4-BE49-F238E27FC236}">
                <a16:creationId xmlns:a16="http://schemas.microsoft.com/office/drawing/2014/main" id="{322871E3-CD37-4561-9D47-194C5D6E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288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Enroll and organize</a:t>
            </a:r>
          </a:p>
        </p:txBody>
      </p:sp>
      <p:sp>
        <p:nvSpPr>
          <p:cNvPr id="7" name="lc1b">
            <a:extLst xmlns:a="http://schemas.openxmlformats.org/drawingml/2006/main">
              <a:ext uri="{FF2B5EF4-FFF2-40B4-BE49-F238E27FC236}">
                <a16:creationId xmlns:a16="http://schemas.microsoft.com/office/drawing/2014/main" id="{4116B301-6BF4-421E-8FAE-79E21237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33625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Applications, decisions, children, classes, guardians, and staff establish the operational record.</a:t>
            </a:r>
          </a:p>
        </p:txBody>
      </p:sp>
      <p:cxnSp>
        <p:nvCxnSpPr>
          <p:cNvPr id="28" name="lc-h1"/>
          <p:cNvCxnSpPr/>
          <p:nvPr/>
        </p:nvCxnSpPr>
        <p:spPr>
          <a:xfrm xmlns:a="http://schemas.openxmlformats.org/drawingml/2006/main">
            <a:off x="400050" y="3409950"/>
            <a:ext cx="4905375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lc2n">
            <a:extLst xmlns:a="http://schemas.openxmlformats.org/drawingml/2006/main">
              <a:ext uri="{FF2B5EF4-FFF2-40B4-BE49-F238E27FC236}">
                <a16:creationId xmlns:a16="http://schemas.microsoft.com/office/drawing/2014/main" id="{09A79F79-EB3F-455B-A0E8-E8CB9929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59A12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lc2t">
            <a:extLst xmlns:a="http://schemas.openxmlformats.org/drawingml/2006/main">
              <a:ext uri="{FF2B5EF4-FFF2-40B4-BE49-F238E27FC236}">
                <a16:creationId xmlns:a16="http://schemas.microsoft.com/office/drawing/2014/main" id="{8BC75A4D-E1BE-47FC-B40E-1FA28F55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288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Operate every day</a:t>
            </a:r>
          </a:p>
        </p:txBody>
      </p:sp>
      <p:sp>
        <p:nvSpPr>
          <p:cNvPr id="11" name="lc2b">
            <a:extLst xmlns:a="http://schemas.openxmlformats.org/drawingml/2006/main">
              <a:ext uri="{FF2B5EF4-FFF2-40B4-BE49-F238E27FC236}">
                <a16:creationId xmlns:a16="http://schemas.microsoft.com/office/drawing/2014/main" id="{8D475176-FD92-4D0A-A17F-A5435530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33625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Attendance, daily reporting, absence workflows, incidents, messaging, and portfolios capture what happens.</a:t>
            </a:r>
          </a:p>
        </p:txBody>
      </p:sp>
      <p:cxnSp>
        <p:nvCxnSpPr>
          <p:cNvPr id="32" name="lc-h2"/>
          <p:cNvCxnSpPr/>
          <p:nvPr/>
        </p:nvCxnSpPr>
        <p:spPr>
          <a:xfrm xmlns:a="http://schemas.openxmlformats.org/drawingml/2006/main">
            <a:off x="6362700" y="3409950"/>
            <a:ext cx="4905375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lc3n">
            <a:extLst xmlns:a="http://schemas.openxmlformats.org/drawingml/2006/main">
              <a:ext uri="{FF2B5EF4-FFF2-40B4-BE49-F238E27FC236}">
                <a16:creationId xmlns:a16="http://schemas.microsoft.com/office/drawing/2014/main" id="{F62832E6-8C57-41EC-A25F-9D12A2AE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59A12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4" name="lc3t">
            <a:extLst xmlns:a="http://schemas.openxmlformats.org/drawingml/2006/main">
              <a:ext uri="{FF2B5EF4-FFF2-40B4-BE49-F238E27FC236}">
                <a16:creationId xmlns:a16="http://schemas.microsoft.com/office/drawing/2014/main" id="{044F3F1F-7396-441F-8663-A19DED11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Detect what needs attention</a:t>
            </a:r>
          </a:p>
        </p:txBody>
      </p:sp>
      <p:sp>
        <p:nvSpPr>
          <p:cNvPr id="15" name="lc3b">
            <a:extLst xmlns:a="http://schemas.openxmlformats.org/drawingml/2006/main">
              <a:ext uri="{FF2B5EF4-FFF2-40B4-BE49-F238E27FC236}">
                <a16:creationId xmlns:a16="http://schemas.microsoft.com/office/drawing/2014/main" id="{3BD6F2DF-DB6A-4A93-8ACF-A6BA4BF9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0075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KPIs, thresholds, anomalies, data-quality checks, and geospatial views turn records into signals.</a:t>
            </a:r>
          </a:p>
        </p:txBody>
      </p:sp>
      <p:sp>
        <p:nvSpPr>
          <p:cNvPr id="16" name="lc4n">
            <a:extLst xmlns:a="http://schemas.openxmlformats.org/drawingml/2006/main">
              <a:ext uri="{FF2B5EF4-FFF2-40B4-BE49-F238E27FC236}">
                <a16:creationId xmlns:a16="http://schemas.microsoft.com/office/drawing/2014/main" id="{825B6B98-60A4-42C9-BA4A-66306FFA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59A12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7" name="lc4t">
            <a:extLst xmlns:a="http://schemas.openxmlformats.org/drawingml/2006/main">
              <a:ext uri="{FF2B5EF4-FFF2-40B4-BE49-F238E27FC236}">
                <a16:creationId xmlns:a16="http://schemas.microsoft.com/office/drawing/2014/main" id="{A65D7630-FD8B-48FD-9A9D-36970F94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0525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Act, report, and learn</a:t>
            </a:r>
          </a:p>
        </p:txBody>
      </p:sp>
      <p:sp>
        <p:nvSpPr>
          <p:cNvPr id="18" name="lc4b">
            <a:extLst xmlns:a="http://schemas.openxmlformats.org/drawingml/2006/main">
              <a:ext uri="{FF2B5EF4-FFF2-40B4-BE49-F238E27FC236}">
                <a16:creationId xmlns:a16="http://schemas.microsoft.com/office/drawing/2014/main" id="{AAC8067B-80D4-4126-A15D-5D03720E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0075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Escalations, recommendations, scheduled reports, exports, and audit evidence create accountable follow-through.</a:t>
            </a:r>
          </a:p>
        </p:txBody>
      </p:sp>
      <p:sp>
        <p:nvSpPr>
          <p:cNvPr id="19" name="lc-takeaway">
            <a:extLst xmlns:a="http://schemas.openxmlformats.org/drawingml/2006/main">
              <a:ext uri="{FF2B5EF4-FFF2-40B4-BE49-F238E27FC236}">
                <a16:creationId xmlns:a16="http://schemas.microsoft.com/office/drawing/2014/main" id="{DD4EB931-A728-493F-8467-85C55E84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076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3F2C"/>
                </a:solidFill>
                <a:latin typeface="Arial"/>
                <a:ea typeface="Arial"/>
                <a:cs typeface="Arial"/>
              </a:defRPr>
            </a:pPr>
            <a:r>
              <a:t>Operational data becomes useful only when it leads to a named decision and a tracked response.</a:t>
            </a:r>
          </a:p>
        </p:txBody>
      </p:sp>
      <p:sp>
        <p:nvSpPr>
          <p:cNvPr id="20" name="source-4">
            <a:extLst xmlns:a="http://schemas.openxmlformats.org/drawingml/2006/main">
              <a:ext uri="{FF2B5EF4-FFF2-40B4-BE49-F238E27FC236}">
                <a16:creationId xmlns:a16="http://schemas.microsoft.com/office/drawing/2014/main" id="{259A02FF-A23B-4853-83FD-CE6856B4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Sources: docs/OPERATIONAL_WORKFLOWS_SPEC.md; main.py router composition</a:t>
            </a:r>
          </a:p>
        </p:txBody>
      </p:sp>
    </p:spTree>
    <p:extLst>
      <p:ext uri="{BB962C8B-B14F-4D97-AF65-F5344CB8AC3E}">
        <p14:creationId xmlns:p14="http://schemas.microsoft.com/office/powerpoint/2010/main" val="1241317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">
            <a:extLst xmlns:a="http://schemas.openxmlformats.org/drawingml/2006/main">
              <a:ext uri="{FF2B5EF4-FFF2-40B4-BE49-F238E27FC236}">
                <a16:creationId xmlns:a16="http://schemas.microsoft.com/office/drawing/2014/main" id="{C614542E-1848-4934-8308-8CE29F37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KINJO PROJECT OVERVIEW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962D23BF-5D9A-4363-B82A-AC4D9679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953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Decision support is embedded in the operating dashboard</a:t>
            </a:r>
          </a:p>
        </p:txBody>
      </p:sp>
      <p:cxnSp>
        <p:nvCxnSpPr>
          <p:cNvPr id="16" name="title-rule-5"/>
          <p:cNvCxnSpPr/>
          <p:nvPr/>
        </p:nvCxnSpPr>
        <p:spPr>
          <a:xfrm xmlns:a="http://schemas.openxmlformats.org/drawingml/2006/main">
            <a:off x="400050" y="14382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B9A1A501-6C0E-4454-ABA1-41E5781E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di1">
            <a:extLst xmlns:a="http://schemas.openxmlformats.org/drawingml/2006/main">
              <a:ext uri="{FF2B5EF4-FFF2-40B4-BE49-F238E27FC236}">
                <a16:creationId xmlns:a16="http://schemas.microsoft.com/office/drawing/2014/main" id="{1A7186D5-D38B-4D63-B733-A205D75A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809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Measure</a:t>
            </a:r>
          </a:p>
        </p:txBody>
      </p:sp>
      <p:sp>
        <p:nvSpPr>
          <p:cNvPr id="6" name="di1b">
            <a:extLst xmlns:a="http://schemas.openxmlformats.org/drawingml/2006/main">
              <a:ext uri="{FF2B5EF4-FFF2-40B4-BE49-F238E27FC236}">
                <a16:creationId xmlns:a16="http://schemas.microsoft.com/office/drawing/2014/main" id="{B8810667-08E9-4CEE-B860-CE36255C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409575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Submission, review, attendance, capacity, incidents, staffing, and data quality</a:t>
            </a:r>
          </a:p>
        </p:txBody>
      </p:sp>
      <p:sp>
        <p:nvSpPr>
          <p:cNvPr id="7" name="di2">
            <a:extLst xmlns:a="http://schemas.openxmlformats.org/drawingml/2006/main">
              <a:ext uri="{FF2B5EF4-FFF2-40B4-BE49-F238E27FC236}">
                <a16:creationId xmlns:a16="http://schemas.microsoft.com/office/drawing/2014/main" id="{2B3D53FE-4CA7-462C-BA7C-833B9573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809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Interpret</a:t>
            </a:r>
          </a:p>
        </p:txBody>
      </p:sp>
      <p:sp>
        <p:nvSpPr>
          <p:cNvPr id="8" name="di2b">
            <a:extLst xmlns:a="http://schemas.openxmlformats.org/drawingml/2006/main">
              <a:ext uri="{FF2B5EF4-FFF2-40B4-BE49-F238E27FC236}">
                <a16:creationId xmlns:a16="http://schemas.microsoft.com/office/drawing/2014/main" id="{36ACB60B-216E-4411-9642-2FE392A6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409575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Trends, thresholds, anomalies, forecasts, and role-specific guidance</a:t>
            </a:r>
          </a:p>
        </p:txBody>
      </p:sp>
      <p:sp>
        <p:nvSpPr>
          <p:cNvPr id="9" name="di3">
            <a:extLst xmlns:a="http://schemas.openxmlformats.org/drawingml/2006/main">
              <a:ext uri="{FF2B5EF4-FFF2-40B4-BE49-F238E27FC236}">
                <a16:creationId xmlns:a16="http://schemas.microsoft.com/office/drawing/2014/main" id="{F4CA97CE-024C-4D7A-8185-6D4263C6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05425"/>
            <a:ext cx="1809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59A12"/>
                </a:solidFill>
                <a:latin typeface="Arial"/>
                <a:ea typeface="Arial"/>
                <a:cs typeface="Arial"/>
              </a:defRPr>
            </a:pPr>
            <a:r>
              <a:t>Respond</a:t>
            </a:r>
          </a:p>
        </p:txBody>
      </p:sp>
      <p:sp>
        <p:nvSpPr>
          <p:cNvPr id="10" name="di3b">
            <a:extLst xmlns:a="http://schemas.openxmlformats.org/drawingml/2006/main">
              <a:ext uri="{FF2B5EF4-FFF2-40B4-BE49-F238E27FC236}">
                <a16:creationId xmlns:a16="http://schemas.microsoft.com/office/drawing/2014/main" id="{7327D3B0-E040-43AD-A883-F52D043A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40957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Reminders, action plans, escalations, exports, and scheduled reporting</a:t>
            </a:r>
          </a:p>
        </p:txBody>
      </p:sp>
      <p:sp>
        <p:nvSpPr>
          <p:cNvPr id="11" name="shot-frame">
            <a:extLst xmlns:a="http://schemas.openxmlformats.org/drawingml/2006/main">
              <a:ext uri="{FF2B5EF4-FFF2-40B4-BE49-F238E27FC236}">
                <a16:creationId xmlns:a16="http://schemas.microsoft.com/office/drawing/2014/main" id="{4F69A606-E1A9-47C2-BA4A-39E97FD5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68389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c2f7df58b4941"/>
          <a:srcRect xmlns:a="http://schemas.openxmlformats.org/drawingml/2006/main" l="0" t="17512" r="0" b="175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95875" y="1885950"/>
            <a:ext cx="6553200" cy="4048125"/>
          </a:xfrm>
          <a:prstGeom xmlns:a="http://schemas.openxmlformats.org/drawingml/2006/main" prst="rect">
            <a:avLst/>
          </a:prstGeom>
        </p:spPr>
      </p:pic>
      <p:sp>
        <p:nvSpPr>
          <p:cNvPr id="13" name="source-5">
            <a:extLst xmlns:a="http://schemas.openxmlformats.org/drawingml/2006/main">
              <a:ext uri="{FF2B5EF4-FFF2-40B4-BE49-F238E27FC236}">
                <a16:creationId xmlns:a16="http://schemas.microsoft.com/office/drawing/2014/main" id="{0EC32C9F-7C93-4B92-86D3-8A60445E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Evidence: scripts/governance.png; docs/AI_ML_INTELLIGENCE_LAYER_ARCHITECTURE.md</a:t>
            </a:r>
          </a:p>
        </p:txBody>
      </p:sp>
    </p:spTree>
    <p:extLst>
      <p:ext uri="{BB962C8B-B14F-4D97-AF65-F5344CB8AC3E}">
        <p14:creationId xmlns:p14="http://schemas.microsoft.com/office/powerpoint/2010/main" val="1028814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">
            <a:extLst xmlns:a="http://schemas.openxmlformats.org/drawingml/2006/main">
              <a:ext uri="{FF2B5EF4-FFF2-40B4-BE49-F238E27FC236}">
                <a16:creationId xmlns:a16="http://schemas.microsoft.com/office/drawing/2014/main" id="{588F32F1-CEBB-4A09-9840-4B81545B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KINJO PROJECT OVERVIEW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0FED83AE-4640-476D-AF75-94DF9FCC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953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804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 national lens connects local detail to Jordan-wide oversight</a:t>
            </a:r>
          </a:p>
        </p:txBody>
      </p:sp>
      <p:cxnSp>
        <p:nvCxnSpPr>
          <p:cNvPr id="18" name="title-rule-6"/>
          <p:cNvCxnSpPr/>
          <p:nvPr/>
        </p:nvCxnSpPr>
        <p:spPr>
          <a:xfrm xmlns:a="http://schemas.openxmlformats.org/drawingml/2006/main">
            <a:off x="400050" y="14382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31811B4D-B225-49D1-ADB9-E427D8E8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5" name="map-frame">
            <a:extLst xmlns:a="http://schemas.openxmlformats.org/drawingml/2006/main">
              <a:ext uri="{FF2B5EF4-FFF2-40B4-BE49-F238E27FC236}">
                <a16:creationId xmlns:a16="http://schemas.microsoft.com/office/drawing/2014/main" id="{98113609-01F4-40D9-87DE-66B98B0B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4476750" cy="4238625"/>
          </a:xfrm>
          <a:prstGeom xmlns:a="http://schemas.openxmlformats.org/drawingml/2006/main" prst="roundRect">
            <a:avLst>
              <a:gd name="adj" fmla="val 1798"/>
            </a:avLst>
          </a:prstGeom>
          <a:solidFill xmlns:a="http://schemas.openxmlformats.org/drawingml/2006/main">
            <a:srgbClr val="FBF8F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gov-stat">
            <a:extLst xmlns:a="http://schemas.openxmlformats.org/drawingml/2006/main">
              <a:ext uri="{FF2B5EF4-FFF2-40B4-BE49-F238E27FC236}">
                <a16:creationId xmlns:a16="http://schemas.microsoft.com/office/drawing/2014/main" id="{3173EFBE-5902-4899-BCCC-8F205529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428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7" name="gov-copy">
            <a:extLst xmlns:a="http://schemas.openxmlformats.org/drawingml/2006/main">
              <a:ext uri="{FF2B5EF4-FFF2-40B4-BE49-F238E27FC236}">
                <a16:creationId xmlns:a16="http://schemas.microsoft.com/office/drawing/2014/main" id="{96984987-1902-497B-B102-0AEFB415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338137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governorates in the national analytics design</a:t>
            </a:r>
          </a:p>
        </p:txBody>
      </p:sp>
      <p:sp>
        <p:nvSpPr>
          <p:cNvPr id="8" name="design-label">
            <a:extLst xmlns:a="http://schemas.openxmlformats.org/drawingml/2006/main">
              <a:ext uri="{FF2B5EF4-FFF2-40B4-BE49-F238E27FC236}">
                <a16:creationId xmlns:a16="http://schemas.microsoft.com/office/drawing/2014/main" id="{0FB2BE67-3FA9-495F-8198-0493D626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097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Designed for</a:t>
            </a:r>
          </a:p>
        </p:txBody>
      </p:sp>
      <p:sp>
        <p:nvSpPr>
          <p:cNvPr id="9" name="drill">
            <a:extLst xmlns:a="http://schemas.openxmlformats.org/drawingml/2006/main">
              <a:ext uri="{FF2B5EF4-FFF2-40B4-BE49-F238E27FC236}">
                <a16:creationId xmlns:a16="http://schemas.microsoft.com/office/drawing/2014/main" id="{000CA89F-96B1-42EE-A29C-5B95A1BA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66950"/>
            <a:ext cx="5619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Network → Governorate → District / City → Nursery → Class</a:t>
            </a:r>
          </a:p>
        </p:txBody>
      </p:sp>
      <p:cxnSp>
        <p:nvCxnSpPr>
          <p:cNvPr id="25" name="drill-rule"/>
          <p:cNvCxnSpPr/>
          <p:nvPr/>
        </p:nvCxnSpPr>
        <p:spPr>
          <a:xfrm xmlns:a="http://schemas.openxmlformats.org/drawingml/2006/main">
            <a:off x="5562600" y="3638550"/>
            <a:ext cx="56578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drill-body">
            <a:extLst xmlns:a="http://schemas.openxmlformats.org/drawingml/2006/main">
              <a:ext uri="{FF2B5EF4-FFF2-40B4-BE49-F238E27FC236}">
                <a16:creationId xmlns:a16="http://schemas.microsoft.com/office/drawing/2014/main" id="{0264311B-4188-4AD1-837B-8B5C9158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43350"/>
            <a:ext cx="561975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The drill-down model makes geographic inequality, capacity pressure, attendance patterns, and intervention needs visible without losing the local operational context.</a:t>
            </a:r>
          </a:p>
        </p:txBody>
      </p:sp>
      <p:sp>
        <p:nvSpPr>
          <p:cNvPr id="12" name="caveat">
            <a:extLst xmlns:a="http://schemas.openxmlformats.org/drawingml/2006/main">
              <a:ext uri="{FF2B5EF4-FFF2-40B4-BE49-F238E27FC236}">
                <a16:creationId xmlns:a16="http://schemas.microsoft.com/office/drawing/2014/main" id="{328FE476-D95A-4022-A4E8-A2A806E9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524500"/>
            <a:ext cx="5657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0">
            <a:solidFill>
              <a:srgbClr val="FFF5D9"/>
            </a:solidFill>
            <a:prstDash val="solid"/>
          </a:ln>
        </p:spPr>
      </p:sp>
      <p:sp>
        <p:nvSpPr>
          <p:cNvPr id="13" name="coverage-caveat">
            <a:extLst xmlns:a="http://schemas.openxmlformats.org/drawingml/2006/main">
              <a:ext uri="{FF2B5EF4-FFF2-40B4-BE49-F238E27FC236}">
                <a16:creationId xmlns:a16="http://schemas.microsoft.com/office/drawing/2014/main" id="{D9BC431F-5497-40C3-8870-6A0F8337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95950"/>
            <a:ext cx="525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500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5000"/>
                </a:solidFill>
                <a:latin typeface="Arial"/>
                <a:ea typeface="Arial"/>
                <a:cs typeface="Arial"/>
              </a:defRPr>
            </a:pPr>
            <a:r>
              <a:t>Coverage is a deployment target; insight quality depends on validated, complete data.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e163f3ccb4cc3"/>
          <a:stretch xmlns:a="http://schemas.openxmlformats.org/drawingml/2006/main"/>
        </p:blipFill>
        <p:spPr>
          <a:xfrm xmlns:a="http://schemas.openxmlformats.org/drawingml/2006/main">
            <a:off x="2524125" y="4095750"/>
            <a:ext cx="1619250" cy="1619250"/>
          </a:xfrm>
          <a:prstGeom xmlns:a="http://schemas.openxmlformats.org/drawingml/2006/main" prst="rect">
            <a:avLst/>
          </a:prstGeom>
        </p:spPr>
      </p:pic>
      <p:sp>
        <p:nvSpPr>
          <p:cNvPr id="15" name="source-6">
            <a:extLst xmlns:a="http://schemas.openxmlformats.org/drawingml/2006/main">
              <a:ext uri="{FF2B5EF4-FFF2-40B4-BE49-F238E27FC236}">
                <a16:creationId xmlns:a16="http://schemas.microsoft.com/office/drawing/2014/main" id="{01557246-868E-4D1E-8A74-3EA35576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Sources: docs/NATIONAL_NURSERY_INTELLIGENCE_HEAT_MAP_TECHNICAL_DESIGN.md; static/data Jordan assets</a:t>
            </a:r>
          </a:p>
        </p:txBody>
      </p:sp>
    </p:spTree>
    <p:extLst>
      <p:ext uri="{BB962C8B-B14F-4D97-AF65-F5344CB8AC3E}">
        <p14:creationId xmlns:p14="http://schemas.microsoft.com/office/powerpoint/2010/main" val="6720533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7">
            <a:extLst xmlns:a="http://schemas.openxmlformats.org/drawingml/2006/main">
              <a:ext uri="{FF2B5EF4-FFF2-40B4-BE49-F238E27FC236}">
                <a16:creationId xmlns:a16="http://schemas.microsoft.com/office/drawing/2014/main" id="{39FEB0C5-8C8D-45D4-8536-972CD0E9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KINJO PROJECT OVERVIEW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C07461E0-8084-473F-876C-3FA09689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953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Reporting informs decisions without overstating certainty</a:t>
            </a:r>
          </a:p>
        </p:txBody>
      </p:sp>
      <p:cxnSp>
        <p:nvCxnSpPr>
          <p:cNvPr id="17" name="title-rule-7"/>
          <p:cNvCxnSpPr/>
          <p:nvPr/>
        </p:nvCxnSpPr>
        <p:spPr>
          <a:xfrm xmlns:a="http://schemas.openxmlformats.org/drawingml/2006/main">
            <a:off x="400050" y="14382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16106CA4-7BB8-4A84-AAF2-4D901D7E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5" name="rg-left-label">
            <a:extLst xmlns:a="http://schemas.openxmlformats.org/drawingml/2006/main">
              <a:ext uri="{FF2B5EF4-FFF2-40B4-BE49-F238E27FC236}">
                <a16:creationId xmlns:a16="http://schemas.microsoft.com/office/drawing/2014/main" id="{C856F7E0-7542-4DCB-A777-594CC2E5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WHAT STAKEHOLDERS RECEIVE</a:t>
            </a:r>
          </a:p>
        </p:txBody>
      </p:sp>
      <p:sp>
        <p:nvSpPr>
          <p:cNvPr id="6" name="rg-left-title">
            <a:extLst xmlns:a="http://schemas.openxmlformats.org/drawingml/2006/main">
              <a:ext uri="{FF2B5EF4-FFF2-40B4-BE49-F238E27FC236}">
                <a16:creationId xmlns:a16="http://schemas.microsoft.com/office/drawing/2014/main" id="{D6AE1556-AC38-49AB-81E3-149A8F05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4857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Bilingual, role-aware evidence</a:t>
            </a:r>
          </a:p>
        </p:txBody>
      </p:sp>
      <p:sp>
        <p:nvSpPr>
          <p:cNvPr id="7" name="rg-left-body">
            <a:extLst xmlns:a="http://schemas.openxmlformats.org/drawingml/2006/main">
              <a:ext uri="{FF2B5EF4-FFF2-40B4-BE49-F238E27FC236}">
                <a16:creationId xmlns:a16="http://schemas.microsoft.com/office/drawing/2014/main" id="{98A3AB21-58B4-488E-9F4F-BAA9EE92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4857750" cy="233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• Agency-specific report packages
• KPI and trend summaries
• Heat-map and geographic filters
• CSV, Excel, PDF, and image exports
• Scheduled distribution and status tracking</a:t>
            </a:r>
          </a:p>
        </p:txBody>
      </p:sp>
      <p:cxnSp>
        <p:nvCxnSpPr>
          <p:cNvPr id="22" name="rg-divider"/>
          <p:cNvCxnSpPr/>
          <p:nvPr/>
        </p:nvCxnSpPr>
        <p:spPr>
          <a:xfrm xmlns:a="http://schemas.openxmlformats.org/drawingml/2006/main">
            <a:off x="5905500" y="1752600"/>
            <a:ext cx="953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rg-right-label">
            <a:extLst xmlns:a="http://schemas.openxmlformats.org/drawingml/2006/main">
              <a:ext uri="{FF2B5EF4-FFF2-40B4-BE49-F238E27FC236}">
                <a16:creationId xmlns:a16="http://schemas.microsoft.com/office/drawing/2014/main" id="{BE380194-0EC3-45D8-918A-4F10261A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HOW TRUST IS PROTECTED</a:t>
            </a:r>
          </a:p>
        </p:txBody>
      </p:sp>
      <p:sp>
        <p:nvSpPr>
          <p:cNvPr id="10" name="rg-right-title">
            <a:extLst xmlns:a="http://schemas.openxmlformats.org/drawingml/2006/main">
              <a:ext uri="{FF2B5EF4-FFF2-40B4-BE49-F238E27FC236}">
                <a16:creationId xmlns:a16="http://schemas.microsoft.com/office/drawing/2014/main" id="{FF6BE877-57FE-4930-98E9-38B16D19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38375"/>
            <a:ext cx="4857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Evidence with explicit guardrails</a:t>
            </a:r>
          </a:p>
        </p:txBody>
      </p:sp>
      <p:sp>
        <p:nvSpPr>
          <p:cNvPr id="11" name="rg-right-body">
            <a:extLst xmlns:a="http://schemas.openxmlformats.org/drawingml/2006/main">
              <a:ext uri="{FF2B5EF4-FFF2-40B4-BE49-F238E27FC236}">
                <a16:creationId xmlns:a16="http://schemas.microsoft.com/office/drawing/2014/main" id="{7DABBEC1-6019-4FEF-BE17-2FAE21C4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81325"/>
            <a:ext cx="4857750" cy="233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• Admin-only agency routes
• Small-cell privacy suppression
• Data-quality status and notes
• Backend-calculated values
• Audit records for privileged changes</a:t>
            </a:r>
          </a:p>
        </p:txBody>
      </p:sp>
      <p:sp>
        <p:nvSpPr>
          <p:cNvPr id="12" name="rg-caveat">
            <a:extLst xmlns:a="http://schemas.openxmlformats.org/drawingml/2006/main">
              <a:ext uri="{FF2B5EF4-FFF2-40B4-BE49-F238E27FC236}">
                <a16:creationId xmlns:a16="http://schemas.microsoft.com/office/drawing/2014/main" id="{B4A8FE2A-3BF4-41AE-A83A-73FE3E63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0972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0">
            <a:solidFill>
              <a:srgbClr val="FFF5D9"/>
            </a:solidFill>
            <a:prstDash val="solid"/>
          </a:ln>
        </p:spPr>
      </p:sp>
      <p:sp>
        <p:nvSpPr>
          <p:cNvPr id="13" name="rg-caveat-copy">
            <a:extLst xmlns:a="http://schemas.openxmlformats.org/drawingml/2006/main">
              <a:ext uri="{FF2B5EF4-FFF2-40B4-BE49-F238E27FC236}">
                <a16:creationId xmlns:a16="http://schemas.microsoft.com/office/drawing/2014/main" id="{2F100B78-6E5E-41E8-93FB-E150C219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105251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83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5000"/>
                </a:solidFill>
                <a:latin typeface="Arial"/>
                <a:ea typeface="Arial"/>
                <a:cs typeface="Arial"/>
              </a:defRPr>
            </a:pPr>
            <a:r>
              <a:t>Important: ‘Strong alignment’ is a Kinjo product label—not an NCFA endorsement—and reports are operational evidence, not approved national statistics.</a:t>
            </a:r>
          </a:p>
        </p:txBody>
      </p:sp>
      <p:sp>
        <p:nvSpPr>
          <p:cNvPr id="14" name="source-7">
            <a:extLst xmlns:a="http://schemas.openxmlformats.org/drawingml/2006/main">
              <a:ext uri="{FF2B5EF4-FFF2-40B4-BE49-F238E27FC236}">
                <a16:creationId xmlns:a16="http://schemas.microsoft.com/office/drawing/2014/main" id="{FFF8BF5B-5FDF-4896-9190-E5990D47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Source: docs/reports/NCFA_STRONG_ALIGNMENT_REPORTING_HUB.md</a:t>
            </a:r>
          </a:p>
        </p:txBody>
      </p:sp>
    </p:spTree>
    <p:extLst>
      <p:ext uri="{BB962C8B-B14F-4D97-AF65-F5344CB8AC3E}">
        <p14:creationId xmlns:p14="http://schemas.microsoft.com/office/powerpoint/2010/main" val="15924914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8">
            <a:extLst xmlns:a="http://schemas.openxmlformats.org/drawingml/2006/main">
              <a:ext uri="{FF2B5EF4-FFF2-40B4-BE49-F238E27FC236}">
                <a16:creationId xmlns:a16="http://schemas.microsoft.com/office/drawing/2014/main" id="{25279524-3F33-403B-9B6A-0FD47DB5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KINJO PROJECT OVERVIEW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D60FF48D-6EFC-455F-8586-20A2A121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953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24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Security controls follow the data from login to every privileged action</a:t>
            </a:r>
          </a:p>
        </p:txBody>
      </p:sp>
      <p:cxnSp>
        <p:nvCxnSpPr>
          <p:cNvPr id="32" name="title-rule-8"/>
          <p:cNvCxnSpPr/>
          <p:nvPr/>
        </p:nvCxnSpPr>
        <p:spPr>
          <a:xfrm xmlns:a="http://schemas.openxmlformats.org/drawingml/2006/main">
            <a:off x="400050" y="14382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4847B6F2-A32F-40C9-98D5-738E61B0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sec-intro-title">
            <a:extLst xmlns:a="http://schemas.openxmlformats.org/drawingml/2006/main">
              <a:ext uri="{FF2B5EF4-FFF2-40B4-BE49-F238E27FC236}">
                <a16:creationId xmlns:a16="http://schemas.microsoft.com/office/drawing/2014/main" id="{6B02F933-2BDF-4259-A9AD-3D371F82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4476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Protection is layered</a:t>
            </a:r>
          </a:p>
        </p:txBody>
      </p:sp>
      <p:sp>
        <p:nvSpPr>
          <p:cNvPr id="6" name="sec-intro">
            <a:extLst xmlns:a="http://schemas.openxmlformats.org/drawingml/2006/main">
              <a:ext uri="{FF2B5EF4-FFF2-40B4-BE49-F238E27FC236}">
                <a16:creationId xmlns:a16="http://schemas.microsoft.com/office/drawing/2014/main" id="{7925A43E-F4C6-4792-BD00-649C8E4C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44767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Kinjo combines preventive controls, scoped access, and traceable operations rather than relying on a single perimeter.</a:t>
            </a:r>
          </a:p>
        </p:txBody>
      </p:sp>
      <p:sp>
        <p:nvSpPr>
          <p:cNvPr id="7" name="sec-callout">
            <a:extLst xmlns:a="http://schemas.openxmlformats.org/drawingml/2006/main">
              <a:ext uri="{FF2B5EF4-FFF2-40B4-BE49-F238E27FC236}">
                <a16:creationId xmlns:a16="http://schemas.microsoft.com/office/drawing/2014/main" id="{1A09DC24-5057-4D6A-A5C0-EC5890A6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4476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7F2EC"/>
          </a:solidFill>
          <a:ln xmlns:a="http://schemas.openxmlformats.org/drawingml/2006/main" w="0">
            <a:solidFill>
              <a:srgbClr val="E7F2EC"/>
            </a:solidFill>
            <a:prstDash val="solid"/>
          </a:ln>
        </p:spPr>
      </p:sp>
      <p:sp>
        <p:nvSpPr>
          <p:cNvPr id="8" name="sec-callout-copy">
            <a:extLst xmlns:a="http://schemas.openxmlformats.org/drawingml/2006/main">
              <a:ext uri="{FF2B5EF4-FFF2-40B4-BE49-F238E27FC236}">
                <a16:creationId xmlns:a16="http://schemas.microsoft.com/office/drawing/2014/main" id="{0CD0AD0E-26BA-43E6-9DC7-ABF2DB4E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39814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3F2C"/>
                </a:solidFill>
                <a:latin typeface="Arial"/>
                <a:ea typeface="Arial"/>
                <a:cs typeface="Arial"/>
              </a:defRPr>
            </a:pPr>
            <a:r>
              <a:t>Administrative access is explicit; managers and supervisors cannot cross assigned nursery boundaries.</a:t>
            </a:r>
          </a:p>
        </p:txBody>
      </p:sp>
      <p:sp>
        <p:nvSpPr>
          <p:cNvPr id="9" name="check-0">
            <a:extLst xmlns:a="http://schemas.openxmlformats.org/drawingml/2006/main">
              <a:ext uri="{FF2B5EF4-FFF2-40B4-BE49-F238E27FC236}">
                <a16:creationId xmlns:a16="http://schemas.microsoft.com/office/drawing/2014/main" id="{62ECC509-25C5-4E95-BB5E-5444EE46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5"/>
          </a:solidFill>
        </p:spPr>
      </p:sp>
      <p:sp>
        <p:nvSpPr>
          <p:cNvPr id="10" name="checkmark-0">
            <a:extLst xmlns:a="http://schemas.openxmlformats.org/drawingml/2006/main">
              <a:ext uri="{FF2B5EF4-FFF2-40B4-BE49-F238E27FC236}">
                <a16:creationId xmlns:a16="http://schemas.microsoft.com/office/drawing/2014/main" id="{A3BA337E-A846-430A-A4B7-D5EC8BB2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838325"/>
            <a:ext cx="152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1" name="sec-h-0">
            <a:extLst xmlns:a="http://schemas.openxmlformats.org/drawingml/2006/main">
              <a:ext uri="{FF2B5EF4-FFF2-40B4-BE49-F238E27FC236}">
                <a16:creationId xmlns:a16="http://schemas.microsoft.com/office/drawing/2014/main" id="{0CE63DB1-8907-4E24-B25E-1F2704BE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1714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Identity</a:t>
            </a:r>
          </a:p>
        </p:txBody>
      </p:sp>
      <p:sp>
        <p:nvSpPr>
          <p:cNvPr id="12" name="sec-b-0">
            <a:extLst xmlns:a="http://schemas.openxmlformats.org/drawingml/2006/main">
              <a:ext uri="{FF2B5EF4-FFF2-40B4-BE49-F238E27FC236}">
                <a16:creationId xmlns:a16="http://schemas.microsoft.com/office/drawing/2014/main" id="{2D409F9A-2F3E-4436-8F27-71226121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3810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MFA for privileged roles, password policy, lockout controls, and secure recovery.</a:t>
            </a:r>
          </a:p>
        </p:txBody>
      </p:sp>
      <p:sp>
        <p:nvSpPr>
          <p:cNvPr id="13" name="check-1">
            <a:extLst xmlns:a="http://schemas.openxmlformats.org/drawingml/2006/main">
              <a:ext uri="{FF2B5EF4-FFF2-40B4-BE49-F238E27FC236}">
                <a16:creationId xmlns:a16="http://schemas.microsoft.com/office/drawing/2014/main" id="{4271086B-18DF-4CCD-ACF5-11374AAD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765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5"/>
          </a:solidFill>
        </p:spPr>
      </p:sp>
      <p:sp>
        <p:nvSpPr>
          <p:cNvPr id="14" name="checkmark-1">
            <a:extLst xmlns:a="http://schemas.openxmlformats.org/drawingml/2006/main">
              <a:ext uri="{FF2B5EF4-FFF2-40B4-BE49-F238E27FC236}">
                <a16:creationId xmlns:a16="http://schemas.microsoft.com/office/drawing/2014/main" id="{A732DB7E-5B3C-45DE-9F59-C18C0C94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657475"/>
            <a:ext cx="152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5" name="sec-h-1">
            <a:extLst xmlns:a="http://schemas.openxmlformats.org/drawingml/2006/main">
              <a:ext uri="{FF2B5EF4-FFF2-40B4-BE49-F238E27FC236}">
                <a16:creationId xmlns:a16="http://schemas.microsoft.com/office/drawing/2014/main" id="{A1DED7F5-0981-43CA-8C23-402E5007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28900"/>
            <a:ext cx="1714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Session</a:t>
            </a:r>
          </a:p>
        </p:txBody>
      </p:sp>
      <p:sp>
        <p:nvSpPr>
          <p:cNvPr id="16" name="sec-b-1">
            <a:extLst xmlns:a="http://schemas.openxmlformats.org/drawingml/2006/main">
              <a:ext uri="{FF2B5EF4-FFF2-40B4-BE49-F238E27FC236}">
                <a16:creationId xmlns:a16="http://schemas.microsoft.com/office/drawing/2014/main" id="{AD4DC9D3-B549-480C-A4F6-C990BD03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28900"/>
            <a:ext cx="3810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HttpOnly authentication cookie, short-lived token defaults, CSRF and origin checks.</a:t>
            </a:r>
          </a:p>
        </p:txBody>
      </p:sp>
      <p:sp>
        <p:nvSpPr>
          <p:cNvPr id="17" name="check-2">
            <a:extLst xmlns:a="http://schemas.openxmlformats.org/drawingml/2006/main">
              <a:ext uri="{FF2B5EF4-FFF2-40B4-BE49-F238E27FC236}">
                <a16:creationId xmlns:a16="http://schemas.microsoft.com/office/drawing/2014/main" id="{F0FB3321-4C4D-48F7-AA81-8E2E48A6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95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5"/>
          </a:solidFill>
        </p:spPr>
      </p:sp>
      <p:sp>
        <p:nvSpPr>
          <p:cNvPr id="18" name="checkmark-2">
            <a:extLst xmlns:a="http://schemas.openxmlformats.org/drawingml/2006/main">
              <a:ext uri="{FF2B5EF4-FFF2-40B4-BE49-F238E27FC236}">
                <a16:creationId xmlns:a16="http://schemas.microsoft.com/office/drawing/2014/main" id="{3338ED8F-048D-49C6-9268-96051393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476625"/>
            <a:ext cx="152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9" name="sec-h-2">
            <a:extLst xmlns:a="http://schemas.openxmlformats.org/drawingml/2006/main">
              <a:ext uri="{FF2B5EF4-FFF2-40B4-BE49-F238E27FC236}">
                <a16:creationId xmlns:a16="http://schemas.microsoft.com/office/drawing/2014/main" id="{5C00B0A7-9C0F-44C0-B653-FE863E64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48050"/>
            <a:ext cx="1714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Authorization</a:t>
            </a:r>
          </a:p>
        </p:txBody>
      </p:sp>
      <p:sp>
        <p:nvSpPr>
          <p:cNvPr id="20" name="sec-b-2">
            <a:extLst xmlns:a="http://schemas.openxmlformats.org/drawingml/2006/main">
              <a:ext uri="{FF2B5EF4-FFF2-40B4-BE49-F238E27FC236}">
                <a16:creationId xmlns:a16="http://schemas.microsoft.com/office/drawing/2014/main" id="{9B619CD5-930A-422C-A8EF-30D21E29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48050"/>
            <a:ext cx="3810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Role-based access plus kindergarten scoping and object-level IDOR protection.</a:t>
            </a:r>
          </a:p>
        </p:txBody>
      </p:sp>
      <p:sp>
        <p:nvSpPr>
          <p:cNvPr id="21" name="check-3">
            <a:extLst xmlns:a="http://schemas.openxmlformats.org/drawingml/2006/main">
              <a:ext uri="{FF2B5EF4-FFF2-40B4-BE49-F238E27FC236}">
                <a16:creationId xmlns:a16="http://schemas.microsoft.com/office/drawing/2014/main" id="{A14CFE23-635F-4D3B-B8E5-2FDDD7F1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14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5"/>
          </a:solidFill>
        </p:spPr>
      </p:sp>
      <p:sp>
        <p:nvSpPr>
          <p:cNvPr id="22" name="checkmark-3">
            <a:extLst xmlns:a="http://schemas.openxmlformats.org/drawingml/2006/main">
              <a:ext uri="{FF2B5EF4-FFF2-40B4-BE49-F238E27FC236}">
                <a16:creationId xmlns:a16="http://schemas.microsoft.com/office/drawing/2014/main" id="{C7950424-7C48-435E-9A5E-442235FD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295775"/>
            <a:ext cx="152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3" name="sec-h-3">
            <a:extLst xmlns:a="http://schemas.openxmlformats.org/drawingml/2006/main">
              <a:ext uri="{FF2B5EF4-FFF2-40B4-BE49-F238E27FC236}">
                <a16:creationId xmlns:a16="http://schemas.microsoft.com/office/drawing/2014/main" id="{508A2C38-44E1-461D-82D4-D6147020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67200"/>
            <a:ext cx="1714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Operations</a:t>
            </a:r>
          </a:p>
        </p:txBody>
      </p:sp>
      <p:sp>
        <p:nvSpPr>
          <p:cNvPr id="24" name="sec-b-3">
            <a:extLst xmlns:a="http://schemas.openxmlformats.org/drawingml/2006/main">
              <a:ext uri="{FF2B5EF4-FFF2-40B4-BE49-F238E27FC236}">
                <a16:creationId xmlns:a16="http://schemas.microsoft.com/office/drawing/2014/main" id="{719A31E9-9E92-4E96-9640-3B6660CB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67200"/>
            <a:ext cx="3810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Rate limits on sensitive routes and configuration validation for production.</a:t>
            </a:r>
          </a:p>
        </p:txBody>
      </p:sp>
      <p:sp>
        <p:nvSpPr>
          <p:cNvPr id="25" name="check-4">
            <a:extLst xmlns:a="http://schemas.openxmlformats.org/drawingml/2006/main">
              <a:ext uri="{FF2B5EF4-FFF2-40B4-BE49-F238E27FC236}">
                <a16:creationId xmlns:a16="http://schemas.microsoft.com/office/drawing/2014/main" id="{4C64F6DE-9E47-4955-B09B-A4F027D4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33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5"/>
          </a:solidFill>
        </p:spPr>
      </p:sp>
      <p:sp>
        <p:nvSpPr>
          <p:cNvPr id="26" name="checkmark-4">
            <a:extLst xmlns:a="http://schemas.openxmlformats.org/drawingml/2006/main">
              <a:ext uri="{FF2B5EF4-FFF2-40B4-BE49-F238E27FC236}">
                <a16:creationId xmlns:a16="http://schemas.microsoft.com/office/drawing/2014/main" id="{C9E1F62A-84C2-445A-A87D-EE51838A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114925"/>
            <a:ext cx="152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7" name="sec-h-4">
            <a:extLst xmlns:a="http://schemas.openxmlformats.org/drawingml/2006/main">
              <a:ext uri="{FF2B5EF4-FFF2-40B4-BE49-F238E27FC236}">
                <a16:creationId xmlns:a16="http://schemas.microsoft.com/office/drawing/2014/main" id="{BEF29BE7-B6E3-4A61-9E5E-C0FF72FF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86350"/>
            <a:ext cx="1714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Accountability</a:t>
            </a:r>
          </a:p>
        </p:txBody>
      </p:sp>
      <p:sp>
        <p:nvSpPr>
          <p:cNvPr id="28" name="sec-b-4">
            <a:extLst xmlns:a="http://schemas.openxmlformats.org/drawingml/2006/main">
              <a:ext uri="{FF2B5EF4-FFF2-40B4-BE49-F238E27FC236}">
                <a16:creationId xmlns:a16="http://schemas.microsoft.com/office/drawing/2014/main" id="{EE9D917C-7B2D-465F-915A-CF61F78D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86350"/>
            <a:ext cx="3810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Before/after audit diffs, correlation IDs, and logged privileged changes.</a:t>
            </a:r>
          </a:p>
        </p:txBody>
      </p:sp>
      <p:sp>
        <p:nvSpPr>
          <p:cNvPr id="29" name="source-8">
            <a:extLst xmlns:a="http://schemas.openxmlformats.org/drawingml/2006/main">
              <a:ext uri="{FF2B5EF4-FFF2-40B4-BE49-F238E27FC236}">
                <a16:creationId xmlns:a16="http://schemas.microsoft.com/office/drawing/2014/main" id="{21871027-DACF-4205-8CEB-5695B651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Sources: docs/ADMIN_SECURITY_HARDENING_REPORT.md; POLICIES.md; middleware/security.py; admin_security.py</a:t>
            </a:r>
          </a:p>
        </p:txBody>
      </p:sp>
    </p:spTree>
    <p:extLst>
      <p:ext uri="{BB962C8B-B14F-4D97-AF65-F5344CB8AC3E}">
        <p14:creationId xmlns:p14="http://schemas.microsoft.com/office/powerpoint/2010/main" val="10813418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9">
            <a:extLst xmlns:a="http://schemas.openxmlformats.org/drawingml/2006/main">
              <a:ext uri="{FF2B5EF4-FFF2-40B4-BE49-F238E27FC236}">
                <a16:creationId xmlns:a16="http://schemas.microsoft.com/office/drawing/2014/main" id="{4E6F42FA-AA64-4600-9998-6D7E5050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KINJO PROJECT OVERVIEW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C2DBC672-B51B-449B-974D-AFE7DAFF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953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 modular architecture separates experience, data, and background work</a:t>
            </a:r>
          </a:p>
        </p:txBody>
      </p:sp>
      <p:cxnSp>
        <p:nvCxnSpPr>
          <p:cNvPr id="30" name="title-rule-9"/>
          <p:cNvCxnSpPr/>
          <p:nvPr/>
        </p:nvCxnSpPr>
        <p:spPr>
          <a:xfrm xmlns:a="http://schemas.openxmlformats.org/drawingml/2006/main">
            <a:off x="400050" y="14382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ABB9DA70-2326-4961-B6E4-69024C53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cxnSp>
        <p:nvCxnSpPr>
          <p:cNvPr id="32" name="a1"/>
          <p:cNvCxnSpPr/>
          <p:nvPr/>
        </p:nvCxnSpPr>
        <p:spPr>
          <a:xfrm xmlns:a="http://schemas.openxmlformats.org/drawingml/2006/main">
            <a:off x="2057400" y="2971800"/>
            <a:ext cx="10477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B45"/>
            </a:solidFill>
            <a:prstDash val="solid"/>
          </a:ln>
        </p:spPr>
      </p:cxnSp>
      <p:cxnSp>
        <p:nvCxnSpPr>
          <p:cNvPr id="33" name="a2"/>
          <p:cNvCxnSpPr/>
          <p:nvPr/>
        </p:nvCxnSpPr>
        <p:spPr>
          <a:xfrm xmlns:a="http://schemas.openxmlformats.org/drawingml/2006/main">
            <a:off x="4724400" y="2971800"/>
            <a:ext cx="10477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B45"/>
            </a:solidFill>
            <a:prstDash val="solid"/>
          </a:ln>
        </p:spPr>
      </p:cxnSp>
      <p:cxnSp>
        <p:nvCxnSpPr>
          <p:cNvPr id="34" name="a3"/>
          <p:cNvCxnSpPr/>
          <p:nvPr/>
        </p:nvCxnSpPr>
        <p:spPr>
          <a:xfrm xmlns:a="http://schemas.openxmlformats.org/drawingml/2006/main">
            <a:off x="7391400" y="2971800"/>
            <a:ext cx="10477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B45"/>
            </a:solidFill>
            <a:prstDash val="solid"/>
          </a:ln>
        </p:spPr>
      </p:cxnSp>
      <p:cxnSp>
        <p:nvCxnSpPr>
          <p:cNvPr id="35" name="a4"/>
          <p:cNvCxnSpPr/>
          <p:nvPr/>
        </p:nvCxnSpPr>
        <p:spPr>
          <a:xfrm xmlns:a="http://schemas.openxmlformats.org/drawingml/2006/main">
            <a:off x="10058400" y="2971800"/>
            <a:ext cx="3048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B45"/>
            </a:solidFill>
            <a:prstDash val="solid"/>
          </a:ln>
        </p:spPr>
      </p:cxnSp>
      <p:sp>
        <p:nvSpPr>
          <p:cNvPr id="9" name="arch-users">
            <a:extLst xmlns:a="http://schemas.openxmlformats.org/drawingml/2006/main">
              <a:ext uri="{FF2B5EF4-FFF2-40B4-BE49-F238E27FC236}">
                <a16:creationId xmlns:a16="http://schemas.microsoft.com/office/drawing/2014/main" id="{CDAA85D2-B7F9-4A9F-8CD3-BCAA29F5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16573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6B45"/>
            </a:solidFill>
            <a:prstDash val="solid"/>
          </a:ln>
        </p:spPr>
      </p:sp>
      <p:sp>
        <p:nvSpPr>
          <p:cNvPr id="10" name="arch-users-title">
            <a:extLst xmlns:a="http://schemas.openxmlformats.org/drawingml/2006/main">
              <a:ext uri="{FF2B5EF4-FFF2-40B4-BE49-F238E27FC236}">
                <a16:creationId xmlns:a16="http://schemas.microsoft.com/office/drawing/2014/main" id="{F2DFBEFD-7A3E-44D7-841A-B1163E79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14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Users</a:t>
            </a:r>
          </a:p>
        </p:txBody>
      </p:sp>
      <p:sp>
        <p:nvSpPr>
          <p:cNvPr id="11" name="arch-users-body">
            <a:extLst xmlns:a="http://schemas.openxmlformats.org/drawingml/2006/main">
              <a:ext uri="{FF2B5EF4-FFF2-40B4-BE49-F238E27FC236}">
                <a16:creationId xmlns:a16="http://schemas.microsoft.com/office/drawing/2014/main" id="{39D06E53-E7C7-4F22-B67D-AA28617E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1143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Arabic / English
role-based UI</a:t>
            </a:r>
          </a:p>
        </p:txBody>
      </p:sp>
      <p:sp>
        <p:nvSpPr>
          <p:cNvPr id="12" name="arch-web">
            <a:extLst xmlns:a="http://schemas.openxmlformats.org/drawingml/2006/main">
              <a:ext uri="{FF2B5EF4-FFF2-40B4-BE49-F238E27FC236}">
                <a16:creationId xmlns:a16="http://schemas.microsoft.com/office/drawing/2014/main" id="{02B80E30-92CF-4425-865E-0DE29920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57400"/>
            <a:ext cx="1619250" cy="18288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7F2EC"/>
          </a:solidFill>
          <a:ln xmlns:a="http://schemas.openxmlformats.org/drawingml/2006/main" w="9525">
            <a:solidFill>
              <a:srgbClr val="0B6B45"/>
            </a:solidFill>
            <a:prstDash val="solid"/>
          </a:ln>
        </p:spPr>
      </p:sp>
      <p:sp>
        <p:nvSpPr>
          <p:cNvPr id="13" name="arch-web-title">
            <a:extLst xmlns:a="http://schemas.openxmlformats.org/drawingml/2006/main">
              <a:ext uri="{FF2B5EF4-FFF2-40B4-BE49-F238E27FC236}">
                <a16:creationId xmlns:a16="http://schemas.microsoft.com/office/drawing/2014/main" id="{81836FA6-1F09-4B52-B098-07DCFC41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Web layer</a:t>
            </a:r>
          </a:p>
        </p:txBody>
      </p:sp>
      <p:sp>
        <p:nvSpPr>
          <p:cNvPr id="14" name="arch-web-body">
            <a:extLst xmlns:a="http://schemas.openxmlformats.org/drawingml/2006/main">
              <a:ext uri="{FF2B5EF4-FFF2-40B4-BE49-F238E27FC236}">
                <a16:creationId xmlns:a16="http://schemas.microsoft.com/office/drawing/2014/main" id="{866C84DF-EEB1-4B25-9099-52143319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1238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FastAPI
Jinja2
REST + WebSockets</a:t>
            </a:r>
          </a:p>
        </p:txBody>
      </p:sp>
      <p:sp>
        <p:nvSpPr>
          <p:cNvPr id="15" name="arch-domain">
            <a:extLst xmlns:a="http://schemas.openxmlformats.org/drawingml/2006/main">
              <a:ext uri="{FF2B5EF4-FFF2-40B4-BE49-F238E27FC236}">
                <a16:creationId xmlns:a16="http://schemas.microsoft.com/office/drawing/2014/main" id="{BC6E3E42-2C1D-4CCD-917B-8A3CFE2B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09750"/>
            <a:ext cx="1619250" cy="23241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arch-domain-title">
            <a:extLst xmlns:a="http://schemas.openxmlformats.org/drawingml/2006/main">
              <a:ext uri="{FF2B5EF4-FFF2-40B4-BE49-F238E27FC236}">
                <a16:creationId xmlns:a16="http://schemas.microsoft.com/office/drawing/2014/main" id="{368F8CF6-F6D0-4059-A006-2D37C9E7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95500"/>
            <a:ext cx="1238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Domain services</a:t>
            </a:r>
          </a:p>
        </p:txBody>
      </p:sp>
      <p:sp>
        <p:nvSpPr>
          <p:cNvPr id="17" name="arch-domain-body">
            <a:extLst xmlns:a="http://schemas.openxmlformats.org/drawingml/2006/main">
              <a:ext uri="{FF2B5EF4-FFF2-40B4-BE49-F238E27FC236}">
                <a16:creationId xmlns:a16="http://schemas.microsoft.com/office/drawing/2014/main" id="{04C95992-3C1F-4F18-8A00-C4ABDFCF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00350"/>
            <a:ext cx="12382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Enrollment
Attendance
Reports
Analytics
Security</a:t>
            </a:r>
          </a:p>
        </p:txBody>
      </p:sp>
      <p:sp>
        <p:nvSpPr>
          <p:cNvPr id="18" name="arch-data">
            <a:extLst xmlns:a="http://schemas.openxmlformats.org/drawingml/2006/main">
              <a:ext uri="{FF2B5EF4-FFF2-40B4-BE49-F238E27FC236}">
                <a16:creationId xmlns:a16="http://schemas.microsoft.com/office/drawing/2014/main" id="{9EDBB750-3617-4ADD-92A7-608123FF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1619250" cy="18288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9525">
            <a:solidFill>
              <a:srgbClr val="D59A12"/>
            </a:solidFill>
            <a:prstDash val="solid"/>
          </a:ln>
        </p:spPr>
      </p:sp>
      <p:sp>
        <p:nvSpPr>
          <p:cNvPr id="19" name="arch-data-title">
            <a:extLst xmlns:a="http://schemas.openxmlformats.org/drawingml/2006/main">
              <a:ext uri="{FF2B5EF4-FFF2-40B4-BE49-F238E27FC236}">
                <a16:creationId xmlns:a16="http://schemas.microsoft.com/office/drawing/2014/main" id="{1C4548EC-EA74-4BE3-9EF5-40CDAAA1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Data layer</a:t>
            </a:r>
          </a:p>
        </p:txBody>
      </p:sp>
      <p:sp>
        <p:nvSpPr>
          <p:cNvPr id="20" name="arch-data-body">
            <a:extLst xmlns:a="http://schemas.openxmlformats.org/drawingml/2006/main">
              <a:ext uri="{FF2B5EF4-FFF2-40B4-BE49-F238E27FC236}">
                <a16:creationId xmlns:a16="http://schemas.microsoft.com/office/drawing/2014/main" id="{C425710F-A9B0-4899-B2CF-1BB4AD2E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19400"/>
            <a:ext cx="1238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PostgreSQL
Alembic
Redis cache</a:t>
            </a:r>
          </a:p>
        </p:txBody>
      </p:sp>
      <p:sp>
        <p:nvSpPr>
          <p:cNvPr id="21" name="arch-jobs">
            <a:extLst xmlns:a="http://schemas.openxmlformats.org/drawingml/2006/main">
              <a:ext uri="{FF2B5EF4-FFF2-40B4-BE49-F238E27FC236}">
                <a16:creationId xmlns:a16="http://schemas.microsoft.com/office/drawing/2014/main" id="{4DC501F2-247D-4EC4-8D6B-FBD77067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24100"/>
            <a:ext cx="1428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arch-jobs-title">
            <a:extLst xmlns:a="http://schemas.openxmlformats.org/drawingml/2006/main">
              <a:ext uri="{FF2B5EF4-FFF2-40B4-BE49-F238E27FC236}">
                <a16:creationId xmlns:a16="http://schemas.microsoft.com/office/drawing/2014/main" id="{C1E0EB56-2268-429E-9C35-E140379A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552700"/>
            <a:ext cx="1066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4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Background</a:t>
            </a:r>
          </a:p>
        </p:txBody>
      </p:sp>
      <p:sp>
        <p:nvSpPr>
          <p:cNvPr id="23" name="arch-jobs-body">
            <a:extLst xmlns:a="http://schemas.openxmlformats.org/drawingml/2006/main">
              <a:ext uri="{FF2B5EF4-FFF2-40B4-BE49-F238E27FC236}">
                <a16:creationId xmlns:a16="http://schemas.microsoft.com/office/drawing/2014/main" id="{E7C6AF63-1C50-48F0-B3F8-D4B6467E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952750"/>
            <a:ext cx="1066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Celery jobs
exports • email</a:t>
            </a:r>
          </a:p>
        </p:txBody>
      </p:sp>
      <p:sp>
        <p:nvSpPr>
          <p:cNvPr id="24" name="arch-ops">
            <a:extLst xmlns:a="http://schemas.openxmlformats.org/drawingml/2006/main">
              <a:ext uri="{FF2B5EF4-FFF2-40B4-BE49-F238E27FC236}">
                <a16:creationId xmlns:a16="http://schemas.microsoft.com/office/drawing/2014/main" id="{FF321DAE-A270-4E61-8128-2BAEF71D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14900"/>
            <a:ext cx="6953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2F2"/>
          </a:solidFill>
          <a:ln xmlns:a="http://schemas.openxmlformats.org/drawingml/2006/main" w="0">
            <a:solidFill>
              <a:srgbClr val="F1F2F2"/>
            </a:solidFill>
            <a:prstDash val="solid"/>
          </a:ln>
        </p:spPr>
      </p:sp>
      <p:sp>
        <p:nvSpPr>
          <p:cNvPr id="25" name="arch-ops-title">
            <a:extLst xmlns:a="http://schemas.openxmlformats.org/drawingml/2006/main">
              <a:ext uri="{FF2B5EF4-FFF2-40B4-BE49-F238E27FC236}">
                <a16:creationId xmlns:a16="http://schemas.microsoft.com/office/drawing/2014/main" id="{2DEC3294-2750-4A61-97D2-4B286106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4350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4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Production operations</a:t>
            </a:r>
          </a:p>
        </p:txBody>
      </p:sp>
      <p:sp>
        <p:nvSpPr>
          <p:cNvPr id="26" name="arch-ops-body">
            <a:extLst xmlns:a="http://schemas.openxmlformats.org/drawingml/2006/main">
              <a:ext uri="{FF2B5EF4-FFF2-40B4-BE49-F238E27FC236}">
                <a16:creationId xmlns:a16="http://schemas.microsoft.com/office/drawing/2014/main" id="{A7328AE2-C683-468E-90E7-156C1959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43500"/>
            <a:ext cx="433387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Docker Compose • health checks • structured logging • telemetry • backups • environment validation</a:t>
            </a:r>
          </a:p>
        </p:txBody>
      </p:sp>
      <p:sp>
        <p:nvSpPr>
          <p:cNvPr id="27" name="source-9">
            <a:extLst xmlns:a="http://schemas.openxmlformats.org/drawingml/2006/main">
              <a:ext uri="{FF2B5EF4-FFF2-40B4-BE49-F238E27FC236}">
                <a16:creationId xmlns:a16="http://schemas.microsoft.com/office/drawing/2014/main" id="{24A63061-3DA3-427A-9AFE-6BC18F29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Sources: main.py; docker-compose.prod.yml; database.py; celery_app.py; observability_endpoints.py</a:t>
            </a:r>
          </a:p>
        </p:txBody>
      </p:sp>
    </p:spTree>
    <p:extLst>
      <p:ext uri="{BB962C8B-B14F-4D97-AF65-F5344CB8AC3E}">
        <p14:creationId xmlns:p14="http://schemas.microsoft.com/office/powerpoint/2010/main" val="14051278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0">
            <a:extLst xmlns:a="http://schemas.openxmlformats.org/drawingml/2006/main">
              <a:ext uri="{FF2B5EF4-FFF2-40B4-BE49-F238E27FC236}">
                <a16:creationId xmlns:a16="http://schemas.microsoft.com/office/drawing/2014/main" id="{3D6DF9B7-5E80-4298-9A2B-705F342A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KINJO PROJECT OVERVIEW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98F15B52-6ED4-42D4-B60C-F4678A8A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953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Delivery evidence shows breadth and release discipline</a:t>
            </a:r>
          </a:p>
        </p:txBody>
      </p:sp>
      <p:cxnSp>
        <p:nvCxnSpPr>
          <p:cNvPr id="18" name="title-rule-10"/>
          <p:cNvCxnSpPr/>
          <p:nvPr/>
        </p:nvCxnSpPr>
        <p:spPr>
          <a:xfrm xmlns:a="http://schemas.openxmlformats.org/drawingml/2006/main">
            <a:off x="400050" y="14382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E925957D-709F-4D48-963F-6849234E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chart-frame">
            <a:extLst xmlns:a="http://schemas.openxmlformats.org/drawingml/2006/main">
              <a:ext uri="{FF2B5EF4-FFF2-40B4-BE49-F238E27FC236}">
                <a16:creationId xmlns:a16="http://schemas.microsoft.com/office/drawing/2014/main" id="{96A39532-DC4D-4B28-A9D9-883C25F5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6238875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footprint-label">
            <a:extLst xmlns:a="http://schemas.openxmlformats.org/drawingml/2006/main">
              <a:ext uri="{FF2B5EF4-FFF2-40B4-BE49-F238E27FC236}">
                <a16:creationId xmlns:a16="http://schemas.microsoft.com/office/drawing/2014/main" id="{A7E03F73-E4F3-47E8-BF59-4F35310B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Repository footprint</a:t>
            </a:r>
          </a:p>
        </p:txBody>
      </p:sp>
      <p:sp>
        <p:nvSpPr>
          <p:cNvPr id="7" name="test-stat">
            <a:extLst xmlns:a="http://schemas.openxmlformats.org/drawingml/2006/main">
              <a:ext uri="{FF2B5EF4-FFF2-40B4-BE49-F238E27FC236}">
                <a16:creationId xmlns:a16="http://schemas.microsoft.com/office/drawing/2014/main" id="{FF255F67-8699-4532-A267-852BC7E0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2286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3,068</a:t>
            </a:r>
          </a:p>
        </p:txBody>
      </p:sp>
      <p:sp>
        <p:nvSpPr>
          <p:cNvPr id="8" name="test-stat-label">
            <a:extLst xmlns:a="http://schemas.openxmlformats.org/drawingml/2006/main">
              <a:ext uri="{FF2B5EF4-FFF2-40B4-BE49-F238E27FC236}">
                <a16:creationId xmlns:a16="http://schemas.microsoft.com/office/drawing/2014/main" id="{88ED861B-52A2-4446-BF09-D5F483CC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3840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tests passed</a:t>
            </a:r>
          </a:p>
        </p:txBody>
      </p:sp>
      <p:sp>
        <p:nvSpPr>
          <p:cNvPr id="9" name="test-detail">
            <a:extLst xmlns:a="http://schemas.openxmlformats.org/drawingml/2006/main">
              <a:ext uri="{FF2B5EF4-FFF2-40B4-BE49-F238E27FC236}">
                <a16:creationId xmlns:a16="http://schemas.microsoft.com/office/drawing/2014/main" id="{EEAE9C03-AE35-4D0F-977F-B939D047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90850"/>
            <a:ext cx="4095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0 failed • 1 xpassed</a:t>
            </a:r>
          </a:p>
        </p:txBody>
      </p:sp>
      <p:cxnSp>
        <p:nvCxnSpPr>
          <p:cNvPr id="25" name="test-rule"/>
          <p:cNvCxnSpPr/>
          <p:nvPr/>
        </p:nvCxnSpPr>
        <p:spPr>
          <a:xfrm xmlns:a="http://schemas.openxmlformats.org/drawingml/2006/main">
            <a:off x="7239000" y="3581400"/>
            <a:ext cx="40957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gate-stat">
            <a:extLst xmlns:a="http://schemas.openxmlformats.org/drawingml/2006/main">
              <a:ext uri="{FF2B5EF4-FFF2-40B4-BE49-F238E27FC236}">
                <a16:creationId xmlns:a16="http://schemas.microsoft.com/office/drawing/2014/main" id="{4B024883-3B64-49E3-816F-520324B6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2000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D59A12"/>
                </a:solidFill>
                <a:latin typeface="Arial"/>
                <a:ea typeface="Arial"/>
                <a:cs typeface="Arial"/>
              </a:defRPr>
            </a:pPr>
            <a:r>
              <a:t>10 / 10</a:t>
            </a:r>
          </a:p>
        </p:txBody>
      </p:sp>
      <p:sp>
        <p:nvSpPr>
          <p:cNvPr id="12" name="gate-copy">
            <a:extLst xmlns:a="http://schemas.openxmlformats.org/drawingml/2006/main">
              <a:ext uri="{FF2B5EF4-FFF2-40B4-BE49-F238E27FC236}">
                <a16:creationId xmlns:a16="http://schemas.microsoft.com/office/drawing/2014/main" id="{E4B93184-9AE6-4AC1-8556-94EA475C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4095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required staging-harness checks passed in the documented validation run</a:t>
            </a:r>
          </a:p>
        </p:txBody>
      </p:sp>
      <p:sp>
        <p:nvSpPr>
          <p:cNvPr id="13" name="evidence-caveat">
            <a:extLst xmlns:a="http://schemas.openxmlformats.org/drawingml/2006/main">
              <a:ext uri="{FF2B5EF4-FFF2-40B4-BE49-F238E27FC236}">
                <a16:creationId xmlns:a16="http://schemas.microsoft.com/office/drawing/2014/main" id="{87278072-DD73-425F-93A3-A6E2886E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9750"/>
            <a:ext cx="4095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22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3C"/>
                </a:solidFill>
                <a:latin typeface="Arial"/>
                <a:ea typeface="Arial"/>
                <a:cs typeface="Arial"/>
              </a:defRPr>
            </a:pPr>
            <a:r>
              <a:t>Readiness evidence is a snapshot—not a substitute for validating the target environment and live integrations.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723900" y="2419350"/>
          <a:ext xmlns:a="http://schemas.openxmlformats.org/drawingml/2006/main" cx="557212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389345986d4f45"/>
          </a:graphicData>
        </a:graphic>
      </p:graphicFrame>
      <p:sp>
        <p:nvSpPr>
          <p:cNvPr id="15" name="source-10">
            <a:extLst xmlns:a="http://schemas.openxmlformats.org/drawingml/2006/main">
              <a:ext uri="{FF2B5EF4-FFF2-40B4-BE49-F238E27FC236}">
                <a16:creationId xmlns:a16="http://schemas.microsoft.com/office/drawing/2014/main" id="{4886256C-8AB2-4A06-AB9D-804BA084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Sources: repository file counts; docs/reports/ADMIN_STAGING_GATE_VALIDATION_2026-07-14.md</a:t>
            </a:r>
          </a:p>
        </p:txBody>
      </p:sp>
    </p:spTree>
    <p:extLst>
      <p:ext uri="{BB962C8B-B14F-4D97-AF65-F5344CB8AC3E}">
        <p14:creationId xmlns:p14="http://schemas.microsoft.com/office/powerpoint/2010/main" val="16993274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1">
            <a:extLst xmlns:a="http://schemas.openxmlformats.org/drawingml/2006/main">
              <a:ext uri="{FF2B5EF4-FFF2-40B4-BE49-F238E27FC236}">
                <a16:creationId xmlns:a16="http://schemas.microsoft.com/office/drawing/2014/main" id="{E8ABF3E5-C3EE-4C90-A434-9FD7E729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KINJO PROJECT OVERVIEW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54DC9A5B-9D95-400B-ADCB-A6A50D56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953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580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 controlled rollout converts technical readiness into operational trust</a:t>
            </a:r>
          </a:p>
        </p:txBody>
      </p:sp>
      <p:cxnSp>
        <p:nvCxnSpPr>
          <p:cNvPr id="23" name="title-rule-11"/>
          <p:cNvCxnSpPr/>
          <p:nvPr/>
        </p:nvCxnSpPr>
        <p:spPr>
          <a:xfrm xmlns:a="http://schemas.openxmlformats.org/drawingml/2006/main">
            <a:off x="400050" y="14382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8D205452-B07A-44ED-918C-5B49C581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cxnSp>
        <p:nvCxnSpPr>
          <p:cNvPr id="25" name="rollout-line"/>
          <p:cNvCxnSpPr/>
          <p:nvPr/>
        </p:nvCxnSpPr>
        <p:spPr>
          <a:xfrm xmlns:a="http://schemas.openxmlformats.org/drawingml/2006/main">
            <a:off x="952500" y="3600450"/>
            <a:ext cx="93345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B6B45"/>
            </a:solidFill>
            <a:prstDash val="solid"/>
          </a:ln>
        </p:spPr>
      </p:cxnSp>
      <p:sp>
        <p:nvSpPr>
          <p:cNvPr id="6" name="r-dot1">
            <a:extLst xmlns:a="http://schemas.openxmlformats.org/drawingml/2006/main">
              <a:ext uri="{FF2B5EF4-FFF2-40B4-BE49-F238E27FC236}">
                <a16:creationId xmlns:a16="http://schemas.microsoft.com/office/drawing/2014/main" id="{8025A8BF-4B0B-417C-A574-79CBB82F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5"/>
          </a:solidFill>
        </p:spPr>
      </p:sp>
      <p:sp>
        <p:nvSpPr>
          <p:cNvPr id="7" name="r-dot2">
            <a:extLst xmlns:a="http://schemas.openxmlformats.org/drawingml/2006/main">
              <a:ext uri="{FF2B5EF4-FFF2-40B4-BE49-F238E27FC236}">
                <a16:creationId xmlns:a16="http://schemas.microsoft.com/office/drawing/2014/main" id="{53BEEF07-49C9-45E2-AF8A-F6C6841B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95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5"/>
          </a:solidFill>
        </p:spPr>
      </p:sp>
      <p:sp>
        <p:nvSpPr>
          <p:cNvPr id="8" name="r-dot3">
            <a:extLst xmlns:a="http://schemas.openxmlformats.org/drawingml/2006/main">
              <a:ext uri="{FF2B5EF4-FFF2-40B4-BE49-F238E27FC236}">
                <a16:creationId xmlns:a16="http://schemas.microsoft.com/office/drawing/2014/main" id="{69EB84D3-F097-4FC4-AE22-918171EE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95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9A12"/>
          </a:solidFill>
        </p:spPr>
      </p:sp>
      <p:sp>
        <p:nvSpPr>
          <p:cNvPr id="9" name="r1l">
            <a:extLst xmlns:a="http://schemas.openxmlformats.org/drawingml/2006/main">
              <a:ext uri="{FF2B5EF4-FFF2-40B4-BE49-F238E27FC236}">
                <a16:creationId xmlns:a16="http://schemas.microsoft.com/office/drawing/2014/main" id="{F35AF8E4-1F18-403E-AD7A-9DC37761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PHASE 1</a:t>
            </a:r>
          </a:p>
        </p:txBody>
      </p:sp>
      <p:sp>
        <p:nvSpPr>
          <p:cNvPr id="10" name="r1t">
            <a:extLst xmlns:a="http://schemas.openxmlformats.org/drawingml/2006/main">
              <a:ext uri="{FF2B5EF4-FFF2-40B4-BE49-F238E27FC236}">
                <a16:creationId xmlns:a16="http://schemas.microsoft.com/office/drawing/2014/main" id="{DDB8F005-202C-4488-8F8C-D3580B77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857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Staging + pilot</a:t>
            </a:r>
          </a:p>
        </p:txBody>
      </p:sp>
      <p:sp>
        <p:nvSpPr>
          <p:cNvPr id="11" name="r1b">
            <a:extLst xmlns:a="http://schemas.openxmlformats.org/drawingml/2006/main">
              <a:ext uri="{FF2B5EF4-FFF2-40B4-BE49-F238E27FC236}">
                <a16:creationId xmlns:a16="http://schemas.microsoft.com/office/drawing/2014/main" id="{71C623F9-561B-45EB-AA9A-018F66B7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2857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Validate credentials, database, Redis/Celery, notifications, backups, and user journeys with a limited cohort.</a:t>
            </a:r>
          </a:p>
        </p:txBody>
      </p:sp>
      <p:sp>
        <p:nvSpPr>
          <p:cNvPr id="12" name="r2l">
            <a:extLst xmlns:a="http://schemas.openxmlformats.org/drawingml/2006/main">
              <a:ext uri="{FF2B5EF4-FFF2-40B4-BE49-F238E27FC236}">
                <a16:creationId xmlns:a16="http://schemas.microsoft.com/office/drawing/2014/main" id="{8BAAF9ED-C38B-43A1-A6BC-BA8A8886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669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PHASE 2</a:t>
            </a:r>
          </a:p>
        </p:txBody>
      </p:sp>
      <p:sp>
        <p:nvSpPr>
          <p:cNvPr id="13" name="r2t">
            <a:extLst xmlns:a="http://schemas.openxmlformats.org/drawingml/2006/main">
              <a:ext uri="{FF2B5EF4-FFF2-40B4-BE49-F238E27FC236}">
                <a16:creationId xmlns:a16="http://schemas.microsoft.com/office/drawing/2014/main" id="{3F8EF451-C2F5-490C-BFDE-81F9DC34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66950"/>
            <a:ext cx="2857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Governorate waves</a:t>
            </a:r>
          </a:p>
        </p:txBody>
      </p:sp>
      <p:sp>
        <p:nvSpPr>
          <p:cNvPr id="14" name="r2b">
            <a:extLst xmlns:a="http://schemas.openxmlformats.org/drawingml/2006/main">
              <a:ext uri="{FF2B5EF4-FFF2-40B4-BE49-F238E27FC236}">
                <a16:creationId xmlns:a16="http://schemas.microsoft.com/office/drawing/2014/main" id="{375A9AB5-DE59-461E-B6DA-A80D86BA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962400"/>
            <a:ext cx="2857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Train roles, monitor data completeness, tune thresholds, and expand only when support and adoption indicators hold.</a:t>
            </a:r>
          </a:p>
        </p:txBody>
      </p:sp>
      <p:sp>
        <p:nvSpPr>
          <p:cNvPr id="15" name="r3l">
            <a:extLst xmlns:a="http://schemas.openxmlformats.org/drawingml/2006/main">
              <a:ext uri="{FF2B5EF4-FFF2-40B4-BE49-F238E27FC236}">
                <a16:creationId xmlns:a16="http://schemas.microsoft.com/office/drawing/2014/main" id="{D982B726-270A-4021-BD38-D1FAA7DB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669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9A12"/>
                </a:solidFill>
                <a:latin typeface="Arial"/>
                <a:ea typeface="Arial"/>
                <a:cs typeface="Arial"/>
              </a:defRPr>
            </a:pPr>
            <a:r>
              <a:t>PHASE 3</a:t>
            </a:r>
          </a:p>
        </p:txBody>
      </p:sp>
      <p:sp>
        <p:nvSpPr>
          <p:cNvPr id="16" name="r3t">
            <a:extLst xmlns:a="http://schemas.openxmlformats.org/drawingml/2006/main">
              <a:ext uri="{FF2B5EF4-FFF2-40B4-BE49-F238E27FC236}">
                <a16:creationId xmlns:a16="http://schemas.microsoft.com/office/drawing/2014/main" id="{BD69F995-8F69-41AD-A414-CCCCE900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304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National operations</a:t>
            </a:r>
          </a:p>
        </p:txBody>
      </p:sp>
      <p:sp>
        <p:nvSpPr>
          <p:cNvPr id="17" name="r3b">
            <a:extLst xmlns:a="http://schemas.openxmlformats.org/drawingml/2006/main">
              <a:ext uri="{FF2B5EF4-FFF2-40B4-BE49-F238E27FC236}">
                <a16:creationId xmlns:a16="http://schemas.microsoft.com/office/drawing/2014/main" id="{D229267A-76E0-409A-A9C4-8F0E1DD3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62400"/>
            <a:ext cx="30480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Institutionalize governance, agency reporting, privacy review, incident response, and continuous metric-usefulness audits.</a:t>
            </a:r>
          </a:p>
        </p:txBody>
      </p:sp>
      <p:sp>
        <p:nvSpPr>
          <p:cNvPr id="18" name="risk-rail">
            <a:extLst xmlns:a="http://schemas.openxmlformats.org/drawingml/2006/main">
              <a:ext uri="{FF2B5EF4-FFF2-40B4-BE49-F238E27FC236}">
                <a16:creationId xmlns:a16="http://schemas.microsoft.com/office/drawing/2014/main" id="{0E7336FC-9F48-4F71-8D4E-B42BB82A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6489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0">
            <a:solidFill>
              <a:srgbClr val="FFF5D9"/>
            </a:solidFill>
            <a:prstDash val="solid"/>
          </a:ln>
        </p:spPr>
      </p:sp>
      <p:sp>
        <p:nvSpPr>
          <p:cNvPr id="19" name="risk-rail-copy">
            <a:extLst xmlns:a="http://schemas.openxmlformats.org/drawingml/2006/main">
              <a:ext uri="{FF2B5EF4-FFF2-40B4-BE49-F238E27FC236}">
                <a16:creationId xmlns:a16="http://schemas.microsoft.com/office/drawing/2014/main" id="{E3DC8551-50A7-4461-AA15-A624B193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95950"/>
            <a:ext cx="1019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18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5000"/>
                </a:solidFill>
                <a:latin typeface="Arial"/>
                <a:ea typeface="Arial"/>
                <a:cs typeface="Arial"/>
              </a:defRPr>
            </a:pPr>
            <a:r>
              <a:t>Release gates: data quality • privacy/legal review • accessibility • support capacity • training completion • monitoring ownership</a:t>
            </a:r>
          </a:p>
        </p:txBody>
      </p:sp>
      <p:sp>
        <p:nvSpPr>
          <p:cNvPr id="20" name="source-11">
            <a:extLst xmlns:a="http://schemas.openxmlformats.org/drawingml/2006/main">
              <a:ext uri="{FF2B5EF4-FFF2-40B4-BE49-F238E27FC236}">
                <a16:creationId xmlns:a16="http://schemas.microsoft.com/office/drawing/2014/main" id="{45273A2A-BCFA-4769-8F9B-FFF57565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Recommended rollout informed by DEPLOYMENT_GUIDE.md, RUNBOOK.md, LIMITATIONS.md, and readiness reports</a:t>
            </a:r>
          </a:p>
        </p:txBody>
      </p:sp>
    </p:spTree>
    <p:extLst>
      <p:ext uri="{BB962C8B-B14F-4D97-AF65-F5344CB8AC3E}">
        <p14:creationId xmlns:p14="http://schemas.microsoft.com/office/powerpoint/2010/main" val="16606954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bar">
            <a:extLst xmlns:a="http://schemas.openxmlformats.org/drawingml/2006/main">
              <a:ext uri="{FF2B5EF4-FFF2-40B4-BE49-F238E27FC236}">
                <a16:creationId xmlns:a16="http://schemas.microsoft.com/office/drawing/2014/main" id="{BB53A419-F4B6-4AFE-8E29-794EE39E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45"/>
          </a:solidFill>
          <a:ln xmlns:a="http://schemas.openxmlformats.org/drawingml/2006/main" w="0">
            <a:solidFill>
              <a:srgbClr val="0B6B45"/>
            </a:solidFill>
            <a:prstDash val="solid"/>
          </a:ln>
        </p:spPr>
      </p:sp>
      <p:sp>
        <p:nvSpPr>
          <p:cNvPr id="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339FB076-D55F-462C-9260-C5FD9E58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THE DECISION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155C96EC-D12D-4033-9145-F04B4A0E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01917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Approve a controlled Kinjo deployment—then scale on evidence</a:t>
            </a:r>
          </a:p>
        </p:txBody>
      </p:sp>
      <p:sp>
        <p:nvSpPr>
          <p:cNvPr id="4" name="close-1">
            <a:extLst xmlns:a="http://schemas.openxmlformats.org/drawingml/2006/main">
              <a:ext uri="{FF2B5EF4-FFF2-40B4-BE49-F238E27FC236}">
                <a16:creationId xmlns:a16="http://schemas.microsoft.com/office/drawing/2014/main" id="{C126E20C-6B57-4E66-A78D-3FECBA94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1  Authorize the staging gate and limited pilot</a:t>
            </a:r>
          </a:p>
        </p:txBody>
      </p:sp>
      <p:sp>
        <p:nvSpPr>
          <p:cNvPr id="5" name="close-2">
            <a:extLst xmlns:a="http://schemas.openxmlformats.org/drawingml/2006/main">
              <a:ext uri="{FF2B5EF4-FFF2-40B4-BE49-F238E27FC236}">
                <a16:creationId xmlns:a16="http://schemas.microsoft.com/office/drawing/2014/main" id="{AD646AF4-2523-4571-820A-E50A072C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5810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52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2  Assign owners for data, security, operations, and training</a:t>
            </a:r>
          </a:p>
        </p:txBody>
      </p:sp>
      <p:sp>
        <p:nvSpPr>
          <p:cNvPr id="6" name="close-3">
            <a:extLst xmlns:a="http://schemas.openxmlformats.org/drawingml/2006/main">
              <a:ext uri="{FF2B5EF4-FFF2-40B4-BE49-F238E27FC236}">
                <a16:creationId xmlns:a16="http://schemas.microsoft.com/office/drawing/2014/main" id="{FDC837A9-2597-43B0-9CCB-815200F6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619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28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3  Expand by governorate only when adoption and quality gates hold</a:t>
            </a:r>
          </a:p>
        </p:txBody>
      </p:sp>
      <p:sp>
        <p:nvSpPr>
          <p:cNvPr id="7" name="close-callout">
            <a:extLst xmlns:a="http://schemas.openxmlformats.org/drawingml/2006/main">
              <a:ext uri="{FF2B5EF4-FFF2-40B4-BE49-F238E27FC236}">
                <a16:creationId xmlns:a16="http://schemas.microsoft.com/office/drawing/2014/main" id="{C6CF30A0-80F9-4367-BD39-597D1B06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43350"/>
            <a:ext cx="3857625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7F2EC"/>
          </a:solidFill>
          <a:ln xmlns:a="http://schemas.openxmlformats.org/drawingml/2006/main" w="0">
            <a:solidFill>
              <a:srgbClr val="E7F2EC"/>
            </a:solidFill>
            <a:prstDash val="solid"/>
          </a:ln>
        </p:spPr>
      </p:sp>
      <p:sp>
        <p:nvSpPr>
          <p:cNvPr id="8" name="close-callout-title">
            <a:extLst xmlns:a="http://schemas.openxmlformats.org/drawingml/2006/main">
              <a:ext uri="{FF2B5EF4-FFF2-40B4-BE49-F238E27FC236}">
                <a16:creationId xmlns:a16="http://schemas.microsoft.com/office/drawing/2014/main" id="{529B29F4-5497-4095-B465-2C48F019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38625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Kinjo’s strategic value</a:t>
            </a:r>
          </a:p>
        </p:txBody>
      </p:sp>
      <p:sp>
        <p:nvSpPr>
          <p:cNvPr id="9" name="close-callout-body">
            <a:extLst xmlns:a="http://schemas.openxmlformats.org/drawingml/2006/main">
              <a:ext uri="{FF2B5EF4-FFF2-40B4-BE49-F238E27FC236}">
                <a16:creationId xmlns:a16="http://schemas.microsoft.com/office/drawing/2014/main" id="{3F06AE53-46F1-421C-A414-893F4360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62500"/>
            <a:ext cx="3238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3F2C"/>
                </a:solidFill>
                <a:latin typeface="Arial"/>
                <a:ea typeface="Arial"/>
                <a:cs typeface="Arial"/>
              </a:defRPr>
            </a:pPr>
            <a:r>
              <a:t>A shared evidence system that connects the child, the nursery, and the national decision.</a:t>
            </a:r>
          </a:p>
        </p:txBody>
      </p:sp>
      <p:sp>
        <p:nvSpPr>
          <p:cNvPr id="10" name="close-url">
            <a:extLst xmlns:a="http://schemas.openxmlformats.org/drawingml/2006/main">
              <a:ext uri="{FF2B5EF4-FFF2-40B4-BE49-F238E27FC236}">
                <a16:creationId xmlns:a16="http://schemas.microsoft.com/office/drawing/2014/main" id="{99102824-6C2C-470D-AE5E-44487DE1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github.com/Wael-dot-83/kinjo_v_core</a:t>
            </a:r>
          </a:p>
        </p:txBody>
      </p:sp>
    </p:spTree>
    <p:extLst>
      <p:ext uri="{BB962C8B-B14F-4D97-AF65-F5344CB8AC3E}">
        <p14:creationId xmlns:p14="http://schemas.microsoft.com/office/powerpoint/2010/main" val="9710009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2026-07-15T09:58:22.6960000Z</dcterms:created>
  <dcterms:modified xsi:type="dcterms:W3CDTF">2026-07-15T09:58:22.6960000Z</dcterms:modified>
</coreProperties>
</file>