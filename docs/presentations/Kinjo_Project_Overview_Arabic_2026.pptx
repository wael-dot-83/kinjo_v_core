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ed7ea793d34ea4" /><Relationship Type="http://schemas.openxmlformats.org/officeDocument/2006/relationships/extended-properties" Target="/docProps/app.xml" Id="R0e6e1178bc1b449a" /><Relationship Type="http://schemas.openxmlformats.org/officeDocument/2006/relationships/officeDocument" Target="/ppt/presentation.xml" Id="R83d8fb80641149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931fa81ab2481e"/>
  </p:sldMasterIdLst>
  <p:notesMasterIdLst>
    <p:notesMasterId xmlns:r="http://schemas.openxmlformats.org/officeDocument/2006/relationships" r:id="R90ed769270de4f86"/>
  </p:notesMasterIdLst>
  <p:sldIdLst>
    <p:sldId xmlns:r="http://schemas.openxmlformats.org/officeDocument/2006/relationships" id="256" r:id="R50466f2f65604e74"/>
    <p:sldId xmlns:r="http://schemas.openxmlformats.org/officeDocument/2006/relationships" id="257" r:id="Rb86372abdc5b4bfa"/>
    <p:sldId xmlns:r="http://schemas.openxmlformats.org/officeDocument/2006/relationships" id="258" r:id="R83a1335ecf714add"/>
    <p:sldId xmlns:r="http://schemas.openxmlformats.org/officeDocument/2006/relationships" id="259" r:id="Rb6efbd2b647a4c17"/>
    <p:sldId xmlns:r="http://schemas.openxmlformats.org/officeDocument/2006/relationships" id="260" r:id="R608824f641f24699"/>
    <p:sldId xmlns:r="http://schemas.openxmlformats.org/officeDocument/2006/relationships" id="261" r:id="Raf18f9d35f924808"/>
    <p:sldId xmlns:r="http://schemas.openxmlformats.org/officeDocument/2006/relationships" id="262" r:id="Raca8ec78d9094408"/>
    <p:sldId xmlns:r="http://schemas.openxmlformats.org/officeDocument/2006/relationships" id="263" r:id="R88856d20ae304a29"/>
    <p:sldId xmlns:r="http://schemas.openxmlformats.org/officeDocument/2006/relationships" id="264" r:id="Rc5eb65202ea24db3"/>
    <p:sldId xmlns:r="http://schemas.openxmlformats.org/officeDocument/2006/relationships" id="265" r:id="R18e1fa869d824a83"/>
    <p:sldId xmlns:r="http://schemas.openxmlformats.org/officeDocument/2006/relationships" id="266" r:id="R297b4309f2d04f3c"/>
    <p:sldId xmlns:r="http://schemas.openxmlformats.org/officeDocument/2006/relationships" id="267" r:id="Rb4965a9fece24a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aec2b1bb64377" /><Relationship Type="http://schemas.openxmlformats.org/officeDocument/2006/relationships/slideMaster" Target="/ppt/slideMasters/slideMaster1.xml" Id="R9f931fa81ab2481e" /><Relationship Type="http://schemas.openxmlformats.org/officeDocument/2006/relationships/notesMaster" Target="/ppt/notesMasters/notesMaster1.xml" Id="R90ed769270de4f86" /><Relationship Type="http://schemas.openxmlformats.org/officeDocument/2006/relationships/presProps" Target="/ppt/presProps.xml" Id="R7b680ad41d364fef" /><Relationship Type="http://schemas.openxmlformats.org/officeDocument/2006/relationships/tableStyles" Target="/ppt/tableStyles.xml" Id="R6a8bd43e13174e29" /><Relationship Type="http://schemas.openxmlformats.org/officeDocument/2006/relationships/slide" Target="/ppt/slides/slide1.xml" Id="R50466f2f65604e74" /><Relationship Type="http://schemas.openxmlformats.org/officeDocument/2006/relationships/slide" Target="/ppt/slides/slide2.xml" Id="Rb86372abdc5b4bfa" /><Relationship Type="http://schemas.openxmlformats.org/officeDocument/2006/relationships/slide" Target="/ppt/slides/slide3.xml" Id="R83a1335ecf714add" /><Relationship Type="http://schemas.openxmlformats.org/officeDocument/2006/relationships/slide" Target="/ppt/slides/slide4.xml" Id="Rb6efbd2b647a4c17" /><Relationship Type="http://schemas.openxmlformats.org/officeDocument/2006/relationships/slide" Target="/ppt/slides/slide5.xml" Id="R608824f641f24699" /><Relationship Type="http://schemas.openxmlformats.org/officeDocument/2006/relationships/slide" Target="/ppt/slides/slide6.xml" Id="Raf18f9d35f924808" /><Relationship Type="http://schemas.openxmlformats.org/officeDocument/2006/relationships/slide" Target="/ppt/slides/slide7.xml" Id="Raca8ec78d9094408" /><Relationship Type="http://schemas.openxmlformats.org/officeDocument/2006/relationships/slide" Target="/ppt/slides/slide8.xml" Id="R88856d20ae304a29" /><Relationship Type="http://schemas.openxmlformats.org/officeDocument/2006/relationships/slide" Target="/ppt/slides/slide9.xml" Id="Rc5eb65202ea24db3" /><Relationship Type="http://schemas.openxmlformats.org/officeDocument/2006/relationships/slide" Target="/ppt/slides/slide10.xml" Id="R18e1fa869d824a83" /><Relationship Type="http://schemas.openxmlformats.org/officeDocument/2006/relationships/slide" Target="/ppt/slides/slide11.xml" Id="R297b4309f2d04f3c" /><Relationship Type="http://schemas.openxmlformats.org/officeDocument/2006/relationships/slide" Target="/ppt/slides/slide12.xml" Id="Rb4965a9fece24a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4c082cd98340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7b752b02745ba" /><Relationship Type="http://schemas.openxmlformats.org/officeDocument/2006/relationships/notesMaster" Target="/ppt/notesMasters/notesMaster1.xml" Id="Rdd74bebb33c944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170800e764f46" /><Relationship Type="http://schemas.openxmlformats.org/officeDocument/2006/relationships/notesMaster" Target="/ppt/notesMasters/notesMaster1.xml" Id="Rd73caa3dde4247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14797ca88e46bb" /><Relationship Type="http://schemas.openxmlformats.org/officeDocument/2006/relationships/notesMaster" Target="/ppt/notesMasters/notesMaster1.xml" Id="Re0b25438d00b46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fd4d94e0cd43ec" /><Relationship Type="http://schemas.openxmlformats.org/officeDocument/2006/relationships/notesMaster" Target="/ppt/notesMasters/notesMaster1.xml" Id="Rf3b7733a3f5649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e9a65e7bf74268" /><Relationship Type="http://schemas.openxmlformats.org/officeDocument/2006/relationships/notesMaster" Target="/ppt/notesMasters/notesMaster1.xml" Id="R04368573db574d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79614928a84d17" /><Relationship Type="http://schemas.openxmlformats.org/officeDocument/2006/relationships/notesMaster" Target="/ppt/notesMasters/notesMaster1.xml" Id="R9e129613a69c4b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9e1f14ef78444a" /><Relationship Type="http://schemas.openxmlformats.org/officeDocument/2006/relationships/notesMaster" Target="/ppt/notesMasters/notesMaster1.xml" Id="R2e11203f671e4f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6b8d282cda42a5" /><Relationship Type="http://schemas.openxmlformats.org/officeDocument/2006/relationships/notesMaster" Target="/ppt/notesMasters/notesMaster1.xml" Id="Rfd591956981d40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bd344b4da84e32" /><Relationship Type="http://schemas.openxmlformats.org/officeDocument/2006/relationships/notesMaster" Target="/ppt/notesMasters/notesMaster1.xml" Id="R2492b659a37640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3eecb4b6414350" /><Relationship Type="http://schemas.openxmlformats.org/officeDocument/2006/relationships/notesMaster" Target="/ppt/notesMasters/notesMaster1.xml" Id="R32198a46dfaa47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f96a48f9384b15" /><Relationship Type="http://schemas.openxmlformats.org/officeDocument/2006/relationships/notesMaster" Target="/ppt/notesMasters/notesMaster1.xml" Id="R12132a3c107a4b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f78ee041df4942" /><Relationship Type="http://schemas.openxmlformats.org/officeDocument/2006/relationships/notesMaster" Target="/ppt/notesMasters/notesMaster1.xml" Id="R083b66228254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235fc33e943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ee710dfb264bbc" /><Relationship Type="http://schemas.openxmlformats.org/officeDocument/2006/relationships/slideLayout" Target="/ppt/slideLayouts/slideLayout1.xml" Id="R73f29817f20846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f29817f20846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db9a8583f4c0c" /><Relationship Type="http://schemas.openxmlformats.org/officeDocument/2006/relationships/image" Target="/ppt/media/image.png" Id="R42d495831e6e4b73" /><Relationship Type="http://schemas.openxmlformats.org/officeDocument/2006/relationships/notesSlide" Target="/ppt/notesSlides/notesSlide1.xml" Id="Rd25e3d1972994f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a648245f7462f" /><Relationship Type="http://schemas.openxmlformats.org/officeDocument/2006/relationships/notesSlide" Target="/ppt/notesSlides/notesSlide2.xml" Id="Red407c8d929444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e9c5feb2045aa" /><Relationship Type="http://schemas.openxmlformats.org/officeDocument/2006/relationships/notesSlide" Target="/ppt/notesSlides/notesSlide3.xml" Id="Rbf944237e34845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4fc94a2704111" /><Relationship Type="http://schemas.openxmlformats.org/officeDocument/2006/relationships/notesSlide" Target="/ppt/notesSlides/notesSlide4.xml" Id="R97ced90d775f42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0fb92d6064805" /><Relationship Type="http://schemas.openxmlformats.org/officeDocument/2006/relationships/image" Target="/ppt/media/image2.png" Id="Rd22ef0e1fc1944a0" /><Relationship Type="http://schemas.openxmlformats.org/officeDocument/2006/relationships/notesSlide" Target="/ppt/notesSlides/notesSlide5.xml" Id="R35684ff41ad540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9b3154007404f" /><Relationship Type="http://schemas.openxmlformats.org/officeDocument/2006/relationships/image" Target="/ppt/media/image3.png" Id="Ra2a5540edb1c47f9" /><Relationship Type="http://schemas.openxmlformats.org/officeDocument/2006/relationships/notesSlide" Target="/ppt/notesSlides/notesSlide6.xml" Id="R9e5710ee525b43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aff1e42c34ca1" /><Relationship Type="http://schemas.openxmlformats.org/officeDocument/2006/relationships/notesSlide" Target="/ppt/notesSlides/notesSlide7.xml" Id="R67b8b7d6b0c54d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954f2b27c4d9e" /><Relationship Type="http://schemas.openxmlformats.org/officeDocument/2006/relationships/notesSlide" Target="/ppt/notesSlides/notesSlide8.xml" Id="R30d12df6bc1841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d7902f0274f92" /><Relationship Type="http://schemas.openxmlformats.org/officeDocument/2006/relationships/notesSlide" Target="/ppt/notesSlides/notesSlide9.xml" Id="R3783db8c52ab4b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1d7a0d7be475c" /><Relationship Type="http://schemas.openxmlformats.org/officeDocument/2006/relationships/chart" Target="/ppt/slides/charts/chart1.xml" Id="R17be61c82bdd445b" /><Relationship Type="http://schemas.openxmlformats.org/officeDocument/2006/relationships/notesSlide" Target="/ppt/notesSlides/notesSlide10.xml" Id="Rb2b24e8acd0847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7892b76ae464a" /><Relationship Type="http://schemas.openxmlformats.org/officeDocument/2006/relationships/notesSlide" Target="/ppt/notesSlides/notesSlide11.xml" Id="R226c73e8c08145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f168075f243e2" /><Relationship Type="http://schemas.openxmlformats.org/officeDocument/2006/relationships/notesSlide" Target="/ppt/notesSlides/notesSlide12.xml" Id="Rd088475cfc29452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الملفات</c:v>
          </c:tx>
          <c:spPr>
            <a:solidFill xmlns:a="http://schemas.openxmlformats.org/drawingml/2006/main">
              <a:srgbClr val="0B6B45"/>
            </a:solidFill>
          </c:spPr>
          <c:cat>
            <c:strLit>
              <c:ptCount val="5"/>
              <c:pt idx="0">
                <c:v>بايثون</c:v>
              </c:pt>
              <c:pt idx="1">
                <c:v>الاختبارات</c:v>
              </c:pt>
              <c:pt idx="2">
                <c:v>القوالب</c:v>
              </c:pt>
              <c:pt idx="3">
                <c:v>جافاسكربت</c:v>
              </c:pt>
              <c:pt idx="4">
                <c:v>البيانات قاعدة ترحيلات</c:v>
              </c:pt>
            </c:strLit>
          </c:cat>
          <c:val>
            <c:numLit>
              <c:formatCode>General</c:formatCode>
              <c:ptCount val="5"/>
              <c:pt idx="0">
                <c:v>497</c:v>
              </c:pt>
              <c:pt idx="1">
                <c:v>180</c:v>
              </c:pt>
              <c:pt idx="2">
                <c:v>147</c:v>
              </c:pt>
              <c:pt idx="3">
                <c:v>44</c:v>
              </c:pt>
              <c:pt idx="4">
                <c:v>43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green">
            <a:extLst xmlns:a="http://schemas.openxmlformats.org/drawingml/2006/main">
              <a:ext uri="{FF2B5EF4-FFF2-40B4-BE49-F238E27FC236}">
                <a16:creationId xmlns:a16="http://schemas.microsoft.com/office/drawing/2014/main" id="{76BF3D31-766A-4B21-BBBE-311DE317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5"/>
          </a:solidFill>
          <a:ln xmlns:a="http://schemas.openxmlformats.org/drawingml/2006/main" w="0">
            <a:solidFill>
              <a:srgbClr val="0B6B45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D748DEA-CA4C-4146-809E-BCEBA85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EBAFB21-5A99-4677-95AC-99380E8A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09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لإدارة الأردن منصة
القرار وذكاء المبكرة الطفولة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9AF324F-1B6A-42E2-8A30-8C3D30B1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429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الإطلاق ومسار والأدلة والقدرات الأهمية حول المصلحة لأصحاب عرض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2DB5B5A4-15B0-480E-ACE8-0AD8438F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381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2026 تموز 15 • المستودع من لقطة</a:t>
            </a:r>
          </a:p>
        </p:txBody>
      </p:sp>
      <p:sp>
        <p:nvSpPr>
          <p:cNvPr id="6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2FE8EA23-2EE2-40DA-9F78-B7F0A2F6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"/>
            <a:ext cx="4667250" cy="56197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495831e6e4b73"/>
          <a:stretch xmlns:a="http://schemas.openxmlformats.org/drawingml/2006/main"/>
        </p:blipFill>
        <p:spPr>
          <a:xfrm xmlns:a="http://schemas.openxmlformats.org/drawingml/2006/main">
            <a:off x="7381875" y="1166813"/>
            <a:ext cx="4143375" cy="414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54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DC1813B6-F026-4144-A0C2-E8E43150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BFB93D9-49FF-4563-A151-F7B3498E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للمساءلة قابلة عامة بقيمة للحضانات اليومي العمل Kinjo يربط</a:t>
            </a:r>
          </a:p>
        </p:txBody>
      </p:sp>
      <p:cxnSp>
        <p:nvCxnSpPr>
          <p:cNvPr id="20" name="title-rule-2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4846315-339E-4696-9D97-C138F80B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v1-label">
            <a:extLst xmlns:a="http://schemas.openxmlformats.org/drawingml/2006/main">
              <a:ext uri="{FF2B5EF4-FFF2-40B4-BE49-F238E27FC236}">
                <a16:creationId xmlns:a16="http://schemas.microsoft.com/office/drawing/2014/main" id="{AD7C6E13-F7A5-4F56-8539-A0BEF356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والأسر الأطفال</a:t>
            </a:r>
          </a:p>
        </p:txBody>
      </p:sp>
      <p:sp>
        <p:nvSpPr>
          <p:cNvPr id="6" name="v1-title">
            <a:extLst xmlns:a="http://schemas.openxmlformats.org/drawingml/2006/main">
              <a:ext uri="{FF2B5EF4-FFF2-40B4-BE49-F238E27FC236}">
                <a16:creationId xmlns:a16="http://schemas.microsoft.com/office/drawing/2014/main" id="{C0155977-3557-4E3D-8D8E-9DE25426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33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مترابطة واحدة رحلة</a:t>
            </a:r>
          </a:p>
        </p:txBody>
      </p:sp>
      <p:sp>
        <p:nvSpPr>
          <p:cNvPr id="7" name="v1-body">
            <a:extLst xmlns:a="http://schemas.openxmlformats.org/drawingml/2006/main">
              <a:ext uri="{FF2B5EF4-FFF2-40B4-BE49-F238E27FC236}">
                <a16:creationId xmlns:a16="http://schemas.microsoft.com/office/drawing/2014/main" id="{FC301EA2-95BE-40D7-89A4-ACB8E37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3333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الطفل. حول مترابطة الإنجاز وملفات والرسائل اليومية والتقارير والغياب والحضور الالتحاق طلبات تبقى</a:t>
            </a:r>
          </a:p>
        </p:txBody>
      </p:sp>
      <p:cxnSp>
        <p:nvCxnSpPr>
          <p:cNvPr id="25" name="vline1"/>
          <p:cNvCxnSpPr/>
          <p:nvPr/>
        </p:nvCxnSpPr>
        <p:spPr>
          <a:xfrm xmlns:a="http://schemas.openxmlformats.org/drawingml/2006/main">
            <a:off x="3943350" y="184785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v2-label">
            <a:extLst xmlns:a="http://schemas.openxmlformats.org/drawingml/2006/main">
              <a:ext uri="{FF2B5EF4-FFF2-40B4-BE49-F238E27FC236}">
                <a16:creationId xmlns:a16="http://schemas.microsoft.com/office/drawing/2014/main" id="{69462961-CBD1-4D1F-8AA7-B24FE33B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الحضانة عمليات</a:t>
            </a:r>
          </a:p>
        </p:txBody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DE9405A5-DB50-40C5-94CF-4C9C9D88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333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مرئياً يصبح العمل</a:t>
            </a:r>
          </a:p>
        </p:txBody>
      </p:sp>
      <p:sp>
        <p:nvSpPr>
          <p:cNvPr id="11" name="v2-body">
            <a:extLst xmlns:a="http://schemas.openxmlformats.org/drawingml/2006/main">
              <a:ext uri="{FF2B5EF4-FFF2-40B4-BE49-F238E27FC236}">
                <a16:creationId xmlns:a16="http://schemas.microsoft.com/office/drawing/2014/main" id="{7253B7FD-DEDA-4189-B834-F3E53694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3333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مشترك. تشغيلي مشهد ضمن والإجراءات والامتثال والحوادث والحضور والكوادر الاستيعابية الطاقة والمشرفون المديرون يرى</a:t>
            </a:r>
          </a:p>
        </p:txBody>
      </p:sp>
      <p:cxnSp>
        <p:nvCxnSpPr>
          <p:cNvPr id="29" name="vline2"/>
          <p:cNvCxnSpPr/>
          <p:nvPr/>
        </p:nvCxnSpPr>
        <p:spPr>
          <a:xfrm xmlns:a="http://schemas.openxmlformats.org/drawingml/2006/main">
            <a:off x="7867650" y="184785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v3-label">
            <a:extLst xmlns:a="http://schemas.openxmlformats.org/drawingml/2006/main">
              <a:ext uri="{FF2B5EF4-FFF2-40B4-BE49-F238E27FC236}">
                <a16:creationId xmlns:a16="http://schemas.microsoft.com/office/drawing/2014/main" id="{72A58A22-8E02-4546-BBF4-69003B89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والسياسات الحكومة</a:t>
            </a:r>
          </a:p>
        </p:txBody>
      </p:sp>
      <p:sp>
        <p:nvSpPr>
          <p:cNvPr id="14" name="v3-title">
            <a:extLst xmlns:a="http://schemas.openxmlformats.org/drawingml/2006/main">
              <a:ext uri="{FF2B5EF4-FFF2-40B4-BE49-F238E27FC236}">
                <a16:creationId xmlns:a16="http://schemas.microsoft.com/office/drawing/2014/main" id="{137F030C-6240-4855-BB8A-158927FD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333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القرار إلى تصل الأدلة</a:t>
            </a:r>
          </a:p>
        </p:txBody>
      </p:sp>
      <p:sp>
        <p:nvSpPr>
          <p:cNvPr id="15" name="v3-body">
            <a:extLst xmlns:a="http://schemas.openxmlformats.org/drawingml/2006/main">
              <a:ext uri="{FF2B5EF4-FFF2-40B4-BE49-F238E27FC236}">
                <a16:creationId xmlns:a16="http://schemas.microsoft.com/office/drawing/2014/main" id="{8CD6C587-EC76-4720-BFD4-30D229E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3333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والرقابة. الموارد وتخصيص التدخل التدقيق وسجلات الجهات وتقارير والتنبيهات الحرارية والخرائط الأداء مؤشرات تدعم</a:t>
            </a:r>
          </a:p>
        </p:txBody>
      </p:sp>
      <p:sp>
        <p:nvSpPr>
          <p:cNvPr id="16" name="v-takeaway">
            <a:extLst xmlns:a="http://schemas.openxmlformats.org/drawingml/2006/main">
              <a:ext uri="{FF2B5EF4-FFF2-40B4-BE49-F238E27FC236}">
                <a16:creationId xmlns:a16="http://schemas.microsoft.com/office/drawing/2014/main" id="{6AF93495-C060-4C0B-9F31-AD6F0440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14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الوطني. المستوى على والتعلّم التشغيلية بالإدارة الخدمة تقديم تصل واحدة منصة الترابط: في الأهمية تكمن</a:t>
            </a:r>
          </a:p>
        </p:txBody>
      </p:sp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702737CB-F208-4AD6-B110-97E73DA0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البيانات علوم تحليلات وخطة وPOLICIES.md models.py المصادر:</a:t>
            </a:r>
          </a:p>
        </p:txBody>
      </p:sp>
    </p:spTree>
    <p:extLst>
      <p:ext uri="{BB962C8B-B14F-4D97-AF65-F5344CB8AC3E}">
        <p14:creationId xmlns:p14="http://schemas.microsoft.com/office/powerpoint/2010/main" val="1439701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751B4076-5BA2-4460-9A89-12846388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2ED6992-CFE4-4689-B0C5-835BA52E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واحدة محكومة مسؤولية سلسلة تشكّل أدوار أربعة</a:t>
            </a:r>
          </a:p>
        </p:txBody>
      </p:sp>
      <p:cxnSp>
        <p:nvCxnSpPr>
          <p:cNvPr id="27" name="title-rule-3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B98F5A34-5FDD-4E90-AD1C-B432CCDC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cxnSp>
        <p:nvCxnSpPr>
          <p:cNvPr id="29" name="role-line"/>
          <p:cNvCxnSpPr/>
          <p:nvPr/>
        </p:nvCxnSpPr>
        <p:spPr>
          <a:xfrm xmlns:a="http://schemas.openxmlformats.org/drawingml/2006/main">
            <a:off x="809625" y="3124200"/>
            <a:ext cx="9334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6B45"/>
            </a:solidFill>
            <a:prstDash val="solid"/>
          </a:ln>
        </p:spPr>
      </p:cxnSp>
      <p:sp>
        <p:nvSpPr>
          <p:cNvPr id="6" name="role-dot-0">
            <a:extLst xmlns:a="http://schemas.openxmlformats.org/drawingml/2006/main">
              <a:ext uri="{FF2B5EF4-FFF2-40B4-BE49-F238E27FC236}">
                <a16:creationId xmlns:a16="http://schemas.microsoft.com/office/drawing/2014/main" id="{A0EE21A1-4C2C-43F3-AB47-DB756853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7" name="role-dot-1">
            <a:extLst xmlns:a="http://schemas.openxmlformats.org/drawingml/2006/main">
              <a:ext uri="{FF2B5EF4-FFF2-40B4-BE49-F238E27FC236}">
                <a16:creationId xmlns:a16="http://schemas.microsoft.com/office/drawing/2014/main" id="{ECD5650D-8DB7-4E3F-8A9F-8CED13F4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8" name="role-dot-2">
            <a:extLst xmlns:a="http://schemas.openxmlformats.org/drawingml/2006/main">
              <a:ext uri="{FF2B5EF4-FFF2-40B4-BE49-F238E27FC236}">
                <a16:creationId xmlns:a16="http://schemas.microsoft.com/office/drawing/2014/main" id="{421CE6BE-0050-4114-A8E1-9E9A0B7A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9" name="role-dot-3">
            <a:extLst xmlns:a="http://schemas.openxmlformats.org/drawingml/2006/main">
              <a:ext uri="{FF2B5EF4-FFF2-40B4-BE49-F238E27FC236}">
                <a16:creationId xmlns:a16="http://schemas.microsoft.com/office/drawing/2014/main" id="{C39E2227-C8B5-4768-A2D0-ECC41915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2"/>
          </a:solidFill>
        </p:spPr>
      </p:sp>
      <p:sp>
        <p:nvSpPr>
          <p:cNvPr id="10" name="role1">
            <a:extLst xmlns:a="http://schemas.openxmlformats.org/drawingml/2006/main">
              <a:ext uri="{FF2B5EF4-FFF2-40B4-BE49-F238E27FC236}">
                <a16:creationId xmlns:a16="http://schemas.microsoft.com/office/drawing/2014/main" id="{C1AC5738-ED61-45AB-830E-0615A12A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الأمر ولي</a:t>
            </a:r>
          </a:p>
        </p:txBody>
      </p:sp>
      <p:sp>
        <p:nvSpPr>
          <p:cNvPr id="11" name="role1t">
            <a:extLst xmlns:a="http://schemas.openxmlformats.org/drawingml/2006/main">
              <a:ext uri="{FF2B5EF4-FFF2-40B4-BE49-F238E27FC236}">
                <a16:creationId xmlns:a16="http://schemas.microsoft.com/office/drawing/2014/main" id="{BEBB40E8-EE78-486F-BF65-55B11FB7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21431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ويتابع يبدأ</a:t>
            </a:r>
          </a:p>
        </p:txBody>
      </p:sp>
      <p:sp>
        <p:nvSpPr>
          <p:cNvPr id="12" name="role1b">
            <a:extLst xmlns:a="http://schemas.openxmlformats.org/drawingml/2006/main">
              <a:ext uri="{FF2B5EF4-FFF2-40B4-BE49-F238E27FC236}">
                <a16:creationId xmlns:a16="http://schemas.microsoft.com/office/drawing/2014/main" id="{58994770-0416-4251-B27E-D46D6BAE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2143125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الطفل تقارير • الرسائل • الغياب • الالتحاق</a:t>
            </a:r>
          </a:p>
        </p:txBody>
      </p:sp>
      <p:sp>
        <p:nvSpPr>
          <p:cNvPr id="13" name="role2">
            <a:extLst xmlns:a="http://schemas.openxmlformats.org/drawingml/2006/main">
              <a:ext uri="{FF2B5EF4-FFF2-40B4-BE49-F238E27FC236}">
                <a16:creationId xmlns:a16="http://schemas.microsoft.com/office/drawing/2014/main" id="{8C53F337-734F-4C28-BB16-8391F5C5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الحضانة مدير</a:t>
            </a:r>
          </a:p>
        </p:txBody>
      </p:sp>
      <p:sp>
        <p:nvSpPr>
          <p:cNvPr id="14" name="role2t">
            <a:extLst xmlns:a="http://schemas.openxmlformats.org/drawingml/2006/main">
              <a:ext uri="{FF2B5EF4-FFF2-40B4-BE49-F238E27FC236}">
                <a16:creationId xmlns:a16="http://schemas.microsoft.com/office/drawing/2014/main" id="{99F47CDC-3C0C-4A7D-B9CA-650D9F98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1431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الحضانة يدير</a:t>
            </a:r>
          </a:p>
        </p:txBody>
      </p:sp>
      <p:sp>
        <p:nvSpPr>
          <p:cNvPr id="15" name="role2b">
            <a:extLst xmlns:a="http://schemas.openxmlformats.org/drawingml/2006/main">
              <a:ext uri="{FF2B5EF4-FFF2-40B4-BE49-F238E27FC236}">
                <a16:creationId xmlns:a16="http://schemas.microsoft.com/office/drawing/2014/main" id="{7AD04818-CC6D-484E-A3DB-53AB632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2143125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الحوادث • التقارير • الكوادر • الحضور • الصفوف</a:t>
            </a:r>
          </a:p>
        </p:txBody>
      </p:sp>
      <p:sp>
        <p:nvSpPr>
          <p:cNvPr id="16" name="role3">
            <a:extLst xmlns:a="http://schemas.openxmlformats.org/drawingml/2006/main">
              <a:ext uri="{FF2B5EF4-FFF2-40B4-BE49-F238E27FC236}">
                <a16:creationId xmlns:a16="http://schemas.microsoft.com/office/drawing/2014/main" id="{F7DAEBE8-694A-4CB9-B89E-BCEEF59A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المشرف</a:t>
            </a:r>
          </a:p>
        </p:txBody>
      </p:sp>
      <p:sp>
        <p:nvSpPr>
          <p:cNvPr id="17" name="role3t">
            <a:extLst xmlns:a="http://schemas.openxmlformats.org/drawingml/2006/main">
              <a:ext uri="{FF2B5EF4-FFF2-40B4-BE49-F238E27FC236}">
                <a16:creationId xmlns:a16="http://schemas.microsoft.com/office/drawing/2014/main" id="{F92491DE-CA1B-422A-86F3-14F34CEF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05050"/>
            <a:ext cx="23336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ويتدخل يراجع</a:t>
            </a:r>
          </a:p>
        </p:txBody>
      </p:sp>
      <p:sp>
        <p:nvSpPr>
          <p:cNvPr id="18" name="role3b">
            <a:extLst xmlns:a="http://schemas.openxmlformats.org/drawingml/2006/main">
              <a:ext uri="{FF2B5EF4-FFF2-40B4-BE49-F238E27FC236}">
                <a16:creationId xmlns:a16="http://schemas.microsoft.com/office/drawing/2014/main" id="{C96DB386-7E2A-448F-A399-B3AA7485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81400"/>
            <a:ext cx="2238375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العمل خطط • التصعيد • المتابعة • الجودة مراجعة</a:t>
            </a:r>
          </a:p>
        </p:txBody>
      </p:sp>
      <p:sp>
        <p:nvSpPr>
          <p:cNvPr id="19" name="role4">
            <a:extLst xmlns:a="http://schemas.openxmlformats.org/drawingml/2006/main">
              <a:ext uri="{FF2B5EF4-FFF2-40B4-BE49-F238E27FC236}">
                <a16:creationId xmlns:a16="http://schemas.microsoft.com/office/drawing/2014/main" id="{A7853365-5086-4892-BE9A-6382DA36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النظام مدير</a:t>
            </a:r>
          </a:p>
        </p:txBody>
      </p:sp>
      <p:sp>
        <p:nvSpPr>
          <p:cNvPr id="20" name="role4t">
            <a:extLst xmlns:a="http://schemas.openxmlformats.org/drawingml/2006/main">
              <a:ext uri="{FF2B5EF4-FFF2-40B4-BE49-F238E27FC236}">
                <a16:creationId xmlns:a16="http://schemas.microsoft.com/office/drawing/2014/main" id="{9F9FF60B-F80B-4390-B311-0E76595D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381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الشبكة يحكم</a:t>
            </a:r>
          </a:p>
        </p:txBody>
      </p:sp>
      <p:sp>
        <p:nvSpPr>
          <p:cNvPr id="21" name="role4b">
            <a:extLst xmlns:a="http://schemas.openxmlformats.org/drawingml/2006/main">
              <a:ext uri="{FF2B5EF4-FFF2-40B4-BE49-F238E27FC236}">
                <a16:creationId xmlns:a16="http://schemas.microsoft.com/office/drawing/2014/main" id="{3578E9DD-0BE2-451F-A7DC-B67D8B8F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381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الجهات تقارير • التدقيق • المستخدمون • الشبكة تحليلات</a:t>
            </a:r>
          </a:p>
        </p:txBody>
      </p:sp>
      <p:sp>
        <p:nvSpPr>
          <p:cNvPr id="22" name="scope-note">
            <a:extLst xmlns:a="http://schemas.openxmlformats.org/drawingml/2006/main">
              <a:ext uri="{FF2B5EF4-FFF2-40B4-BE49-F238E27FC236}">
                <a16:creationId xmlns:a16="http://schemas.microsoft.com/office/drawing/2014/main" id="{D86D53AD-7D84-401E-AD84-5E2B838B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10810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0">
            <a:solidFill>
              <a:srgbClr val="E7F2EC"/>
            </a:solidFill>
            <a:prstDash val="solid"/>
          </a:ln>
        </p:spPr>
      </p:sp>
      <p:sp>
        <p:nvSpPr>
          <p:cNvPr id="23" name="scope-copy">
            <a:extLst xmlns:a="http://schemas.openxmlformats.org/drawingml/2006/main">
              <a:ext uri="{FF2B5EF4-FFF2-40B4-BE49-F238E27FC236}">
                <a16:creationId xmlns:a16="http://schemas.microsoft.com/office/drawing/2014/main" id="{33C27BB8-87EF-43CD-AFEA-8DCEF8D5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38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كاملة. الشبكة النظام مسؤولو يدير بينما لهم، المعيّنة الحضانات على والمشرفون المديرون يقتصر البيانات: طبقة في الوصول نطاق يُفرض</a:t>
            </a:r>
          </a:p>
        </p:txBody>
      </p:sp>
      <p:sp>
        <p:nvSpPr>
          <p:cNvPr id="24" name="source-3">
            <a:extLst xmlns:a="http://schemas.openxmlformats.org/drawingml/2006/main">
              <a:ext uri="{FF2B5EF4-FFF2-40B4-BE49-F238E27FC236}">
                <a16:creationId xmlns:a16="http://schemas.microsoft.com/office/drawing/2014/main" id="{707256AC-3299-4830-8286-09B4906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dependencies.py في والنطاق الصلاحيات وضبط models.py في المستخدم أدوار المصادر:</a:t>
            </a:r>
          </a:p>
        </p:txBody>
      </p:sp>
    </p:spTree>
    <p:extLst>
      <p:ext uri="{BB962C8B-B14F-4D97-AF65-F5344CB8AC3E}">
        <p14:creationId xmlns:p14="http://schemas.microsoft.com/office/powerpoint/2010/main" val="16084980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8F3AC0D4-E6E7-4AD8-B19E-52252CF3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29015B5-CCEC-4869-BDD9-0891DD78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التدخل إلى الطلب استقبال من الحلقة المنصة تغلق</a:t>
            </a:r>
          </a:p>
        </p:txBody>
      </p:sp>
      <p:cxnSp>
        <p:nvCxnSpPr>
          <p:cNvPr id="23" name="title-rule-4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78FAD49-343C-4161-8C15-892D972C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lc1n">
            <a:extLst xmlns:a="http://schemas.openxmlformats.org/drawingml/2006/main">
              <a:ext uri="{FF2B5EF4-FFF2-40B4-BE49-F238E27FC236}">
                <a16:creationId xmlns:a16="http://schemas.microsoft.com/office/drawing/2014/main" id="{45912808-3F54-4624-B0A0-C84B6FA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lc1t">
            <a:extLst xmlns:a="http://schemas.openxmlformats.org/drawingml/2006/main">
              <a:ext uri="{FF2B5EF4-FFF2-40B4-BE49-F238E27FC236}">
                <a16:creationId xmlns:a16="http://schemas.microsoft.com/office/drawing/2014/main" id="{7C0B33BC-B573-488E-895A-6090B4F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288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والتنظيم التسجيل</a:t>
            </a:r>
          </a:p>
        </p:txBody>
      </p:sp>
      <p:sp>
        <p:nvSpPr>
          <p:cNvPr id="7" name="lc1b">
            <a:extLst xmlns:a="http://schemas.openxmlformats.org/drawingml/2006/main">
              <a:ext uri="{FF2B5EF4-FFF2-40B4-BE49-F238E27FC236}">
                <a16:creationId xmlns:a16="http://schemas.microsoft.com/office/drawing/2014/main" id="{2CB6485B-3BC0-443C-BFF7-4AB78DAE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33625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التشغيلي. السجل والكوادر الأمور وأولياء والصفوف والأطفال والقرارات الطلبات تؤسس</a:t>
            </a:r>
          </a:p>
        </p:txBody>
      </p:sp>
      <p:cxnSp>
        <p:nvCxnSpPr>
          <p:cNvPr id="28" name="lc-h1"/>
          <p:cNvCxnSpPr/>
          <p:nvPr/>
        </p:nvCxnSpPr>
        <p:spPr>
          <a:xfrm xmlns:a="http://schemas.openxmlformats.org/drawingml/2006/main">
            <a:off x="400050" y="3409950"/>
            <a:ext cx="490537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lc2n">
            <a:extLst xmlns:a="http://schemas.openxmlformats.org/drawingml/2006/main">
              <a:ext uri="{FF2B5EF4-FFF2-40B4-BE49-F238E27FC236}">
                <a16:creationId xmlns:a16="http://schemas.microsoft.com/office/drawing/2014/main" id="{10043FC4-ED95-4C46-B4A8-BB284761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lc2t">
            <a:extLst xmlns:a="http://schemas.openxmlformats.org/drawingml/2006/main">
              <a:ext uri="{FF2B5EF4-FFF2-40B4-BE49-F238E27FC236}">
                <a16:creationId xmlns:a16="http://schemas.microsoft.com/office/drawing/2014/main" id="{EE4BDC27-76B1-4901-B066-641D0A39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288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اليومي التشغيل</a:t>
            </a:r>
          </a:p>
        </p:txBody>
      </p:sp>
      <p:sp>
        <p:nvSpPr>
          <p:cNvPr id="11" name="lc2b">
            <a:extLst xmlns:a="http://schemas.openxmlformats.org/drawingml/2006/main">
              <a:ext uri="{FF2B5EF4-FFF2-40B4-BE49-F238E27FC236}">
                <a16:creationId xmlns:a16="http://schemas.microsoft.com/office/drawing/2014/main" id="{F45CB3DA-00D3-4B88-A7A1-FB0EFF8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33625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فعلياً. يحدث ما الإنجاز وملفات والرسائل والحوادث الغياب وإجراءات اليومية والتقارير الحضور يوثق</a:t>
            </a:r>
          </a:p>
        </p:txBody>
      </p:sp>
      <p:cxnSp>
        <p:nvCxnSpPr>
          <p:cNvPr id="32" name="lc-h2"/>
          <p:cNvCxnSpPr/>
          <p:nvPr/>
        </p:nvCxnSpPr>
        <p:spPr>
          <a:xfrm xmlns:a="http://schemas.openxmlformats.org/drawingml/2006/main">
            <a:off x="6362700" y="3409950"/>
            <a:ext cx="490537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lc3n">
            <a:extLst xmlns:a="http://schemas.openxmlformats.org/drawingml/2006/main">
              <a:ext uri="{FF2B5EF4-FFF2-40B4-BE49-F238E27FC236}">
                <a16:creationId xmlns:a16="http://schemas.microsoft.com/office/drawing/2014/main" id="{07045F78-FE8A-40F7-BC07-708C4213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lc3t">
            <a:extLst xmlns:a="http://schemas.openxmlformats.org/drawingml/2006/main">
              <a:ext uri="{FF2B5EF4-FFF2-40B4-BE49-F238E27FC236}">
                <a16:creationId xmlns:a16="http://schemas.microsoft.com/office/drawing/2014/main" id="{57721E6D-211E-4D90-A662-B02ACDCF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اهتمام إلى يحتاج ما اكتشاف</a:t>
            </a:r>
          </a:p>
        </p:txBody>
      </p:sp>
      <p:sp>
        <p:nvSpPr>
          <p:cNvPr id="15" name="lc3b">
            <a:extLst xmlns:a="http://schemas.openxmlformats.org/drawingml/2006/main">
              <a:ext uri="{FF2B5EF4-FFF2-40B4-BE49-F238E27FC236}">
                <a16:creationId xmlns:a16="http://schemas.microsoft.com/office/drawing/2014/main" id="{D6E896D5-124A-4D69-8287-873FC3C1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للتنفيذ. قابلة إشارات إلى السجلات الجغرافية والمشاهد البيانات جودة وفحوص والتنبيهات والحدود الأداء مؤشرات تحوّل</a:t>
            </a:r>
          </a:p>
        </p:txBody>
      </p:sp>
      <p:sp>
        <p:nvSpPr>
          <p:cNvPr id="16" name="lc4n">
            <a:extLst xmlns:a="http://schemas.openxmlformats.org/drawingml/2006/main">
              <a:ext uri="{FF2B5EF4-FFF2-40B4-BE49-F238E27FC236}">
                <a16:creationId xmlns:a16="http://schemas.microsoft.com/office/drawing/2014/main" id="{2C49F968-759A-4486-81BE-7A69325B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7" name="lc4t">
            <a:extLst xmlns:a="http://schemas.openxmlformats.org/drawingml/2006/main">
              <a:ext uri="{FF2B5EF4-FFF2-40B4-BE49-F238E27FC236}">
                <a16:creationId xmlns:a16="http://schemas.microsoft.com/office/drawing/2014/main" id="{F9330A40-69B0-4938-87E3-E7FF773E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052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والتعلّم والتقرير التنفيذ</a:t>
            </a:r>
          </a:p>
        </p:txBody>
      </p:sp>
      <p:sp>
        <p:nvSpPr>
          <p:cNvPr id="18" name="lc4b">
            <a:extLst xmlns:a="http://schemas.openxmlformats.org/drawingml/2006/main">
              <a:ext uri="{FF2B5EF4-FFF2-40B4-BE49-F238E27FC236}">
                <a16:creationId xmlns:a16="http://schemas.microsoft.com/office/drawing/2014/main" id="{4C01C496-7C45-4FB5-9509-53F09318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0075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للمساءلة. قابلة المتابعة التدقيق وأدلة والتصدير المجدولة والتقارير والتوصيات التصعيدات تجعل</a:t>
            </a:r>
          </a:p>
        </p:txBody>
      </p:sp>
      <p:sp>
        <p:nvSpPr>
          <p:cNvPr id="19" name="lc-takeaway">
            <a:extLst xmlns:a="http://schemas.openxmlformats.org/drawingml/2006/main">
              <a:ext uri="{FF2B5EF4-FFF2-40B4-BE49-F238E27FC236}">
                <a16:creationId xmlns:a16="http://schemas.microsoft.com/office/drawing/2014/main" id="{F44F75B2-D28B-442C-9BA6-09F13A5B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76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تتبعها. يمكن واستجابة محدد قرار إلى تقود عندما مفيدة التشغيلية البيانات تصبح</a:t>
            </a:r>
          </a:p>
        </p:txBody>
      </p:sp>
      <p:sp>
        <p:nvSpPr>
          <p:cNvPr id="20" name="source-4">
            <a:extLst xmlns:a="http://schemas.openxmlformats.org/drawingml/2006/main">
              <a:ext uri="{FF2B5EF4-FFF2-40B4-BE49-F238E27FC236}">
                <a16:creationId xmlns:a16="http://schemas.microsoft.com/office/drawing/2014/main" id="{2467AD9C-618B-46B0-BB2F-32906905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main.py في المسارات وتركيب التشغيلي العمل سير مواصفات المصادر:</a:t>
            </a:r>
          </a:p>
        </p:txBody>
      </p:sp>
    </p:spTree>
    <p:extLst>
      <p:ext uri="{BB962C8B-B14F-4D97-AF65-F5344CB8AC3E}">
        <p14:creationId xmlns:p14="http://schemas.microsoft.com/office/powerpoint/2010/main" val="25860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0977201D-ADD6-4B38-BA12-C04E078A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6066024-95A0-4329-9B17-8277E85F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التشغيلية التحكم لوحة في مدمج القرار دعم</a:t>
            </a:r>
          </a:p>
        </p:txBody>
      </p:sp>
      <p:cxnSp>
        <p:nvCxnSpPr>
          <p:cNvPr id="16" name="title-rule-5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CF0F28A-21BE-4C8A-B5CF-C0B5B584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di1">
            <a:extLst xmlns:a="http://schemas.openxmlformats.org/drawingml/2006/main">
              <a:ext uri="{FF2B5EF4-FFF2-40B4-BE49-F238E27FC236}">
                <a16:creationId xmlns:a16="http://schemas.microsoft.com/office/drawing/2014/main" id="{BE03C997-44A5-47D6-88EE-A7E63185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القياس</a:t>
            </a:r>
          </a:p>
        </p:txBody>
      </p:sp>
      <p:sp>
        <p:nvSpPr>
          <p:cNvPr id="6" name="di1b">
            <a:extLst xmlns:a="http://schemas.openxmlformats.org/drawingml/2006/main">
              <a:ext uri="{FF2B5EF4-FFF2-40B4-BE49-F238E27FC236}">
                <a16:creationId xmlns:a16="http://schemas.microsoft.com/office/drawing/2014/main" id="{AD398DA1-E65F-4B83-B506-A18B7054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40957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البيانات وجودة والكوادر والحوادث الاستيعابية والطاقة والحضور والمراجعة التسليم</a:t>
            </a:r>
          </a:p>
        </p:txBody>
      </p:sp>
      <p:sp>
        <p:nvSpPr>
          <p:cNvPr id="7" name="di2">
            <a:extLst xmlns:a="http://schemas.openxmlformats.org/drawingml/2006/main">
              <a:ext uri="{FF2B5EF4-FFF2-40B4-BE49-F238E27FC236}">
                <a16:creationId xmlns:a16="http://schemas.microsoft.com/office/drawing/2014/main" id="{8A6FAA41-8D2F-4411-98F7-270EF4FB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التفسير</a:t>
            </a:r>
          </a:p>
        </p:txBody>
      </p:sp>
      <p:sp>
        <p:nvSpPr>
          <p:cNvPr id="8" name="di2b">
            <a:extLst xmlns:a="http://schemas.openxmlformats.org/drawingml/2006/main">
              <a:ext uri="{FF2B5EF4-FFF2-40B4-BE49-F238E27FC236}">
                <a16:creationId xmlns:a16="http://schemas.microsoft.com/office/drawing/2014/main" id="{8A42205A-77F0-476C-BD01-377957E4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40957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دور لكل المخصص والإرشاد والتوقعات الشاذة والقيم والحدود الاتجاهات</a:t>
            </a:r>
          </a:p>
        </p:txBody>
      </p:sp>
      <p:sp>
        <p:nvSpPr>
          <p:cNvPr id="9" name="di3">
            <a:extLst xmlns:a="http://schemas.openxmlformats.org/drawingml/2006/main">
              <a:ext uri="{FF2B5EF4-FFF2-40B4-BE49-F238E27FC236}">
                <a16:creationId xmlns:a16="http://schemas.microsoft.com/office/drawing/2014/main" id="{34B74248-3821-4D7B-BF21-660C14FE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1809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الاستجابة</a:t>
            </a:r>
          </a:p>
        </p:txBody>
      </p:sp>
      <p:sp>
        <p:nvSpPr>
          <p:cNvPr id="10" name="di3b">
            <a:extLst xmlns:a="http://schemas.openxmlformats.org/drawingml/2006/main">
              <a:ext uri="{FF2B5EF4-FFF2-40B4-BE49-F238E27FC236}">
                <a16:creationId xmlns:a16="http://schemas.microsoft.com/office/drawing/2014/main" id="{C9037F4A-D8A9-4D85-BE8C-C72C41B0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4095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المجدولة والتقارير والتصدير والتصعيد العمل وخطط التذكيرات</a:t>
            </a:r>
          </a:p>
        </p:txBody>
      </p:sp>
      <p:sp>
        <p:nvSpPr>
          <p:cNvPr id="11" name="shot-frame">
            <a:extLst xmlns:a="http://schemas.openxmlformats.org/drawingml/2006/main">
              <a:ext uri="{FF2B5EF4-FFF2-40B4-BE49-F238E27FC236}">
                <a16:creationId xmlns:a16="http://schemas.microsoft.com/office/drawing/2014/main" id="{753BA153-856F-449B-85EE-990C038F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68389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ef0e1fc1944a0"/>
          <a:srcRect xmlns:a="http://schemas.openxmlformats.org/drawingml/2006/main" l="0" t="17512" r="0" b="17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5875" y="1885950"/>
            <a:ext cx="6553200" cy="4048125"/>
          </a:xfrm>
          <a:prstGeom xmlns:a="http://schemas.openxmlformats.org/drawingml/2006/main" prst="rect">
            <a:avLst/>
          </a:prstGeom>
        </p:spPr>
      </p:pic>
      <p:sp>
        <p:nvSpPr>
          <p:cNvPr id="13" name="source-5">
            <a:extLst xmlns:a="http://schemas.openxmlformats.org/drawingml/2006/main">
              <a:ext uri="{FF2B5EF4-FFF2-40B4-BE49-F238E27FC236}">
                <a16:creationId xmlns:a16="http://schemas.microsoft.com/office/drawing/2014/main" id="{9A1DD993-227D-4581-B06C-DAE59C5D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الآلي والتعلّم الاصطناعي الذكاء طبقة بنية ووثيقة الحوكمة لوحة صورة الدليل:</a:t>
            </a:r>
          </a:p>
        </p:txBody>
      </p:sp>
    </p:spTree>
    <p:extLst>
      <p:ext uri="{BB962C8B-B14F-4D97-AF65-F5344CB8AC3E}">
        <p14:creationId xmlns:p14="http://schemas.microsoft.com/office/powerpoint/2010/main" val="1403575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61087EA8-B5F9-4AB7-A9A0-D7932BA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84CA07E-935A-4278-A68A-8F4BC58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الأردن مستوى على بالرقابة المحلية التفاصيل يربط وطني منظور</a:t>
            </a:r>
          </a:p>
        </p:txBody>
      </p:sp>
      <p:cxnSp>
        <p:nvCxnSpPr>
          <p:cNvPr id="18" name="title-rule-6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AABB9DF2-680D-41DE-8D41-C7961F81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map-frame">
            <a:extLst xmlns:a="http://schemas.openxmlformats.org/drawingml/2006/main">
              <a:ext uri="{FF2B5EF4-FFF2-40B4-BE49-F238E27FC236}">
                <a16:creationId xmlns:a16="http://schemas.microsoft.com/office/drawing/2014/main" id="{96B3E6C9-2FB1-4935-A538-C6A3A1F1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47675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BF8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gov-stat">
            <a:extLst xmlns:a="http://schemas.openxmlformats.org/drawingml/2006/main">
              <a:ext uri="{FF2B5EF4-FFF2-40B4-BE49-F238E27FC236}">
                <a16:creationId xmlns:a16="http://schemas.microsoft.com/office/drawing/2014/main" id="{38CD2098-F8E3-420C-AAFA-E6778BF0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428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7" name="gov-copy">
            <a:extLst xmlns:a="http://schemas.openxmlformats.org/drawingml/2006/main">
              <a:ext uri="{FF2B5EF4-FFF2-40B4-BE49-F238E27FC236}">
                <a16:creationId xmlns:a16="http://schemas.microsoft.com/office/drawing/2014/main" id="{C5C91F32-021F-41DE-ABF0-84432FDD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381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الوطنية التحليلات تصميم ضمن محافظة</a:t>
            </a:r>
          </a:p>
        </p:txBody>
      </p:sp>
      <p:sp>
        <p:nvSpPr>
          <p:cNvPr id="8" name="design-label">
            <a:extLst xmlns:a="http://schemas.openxmlformats.org/drawingml/2006/main">
              <a:ext uri="{FF2B5EF4-FFF2-40B4-BE49-F238E27FC236}">
                <a16:creationId xmlns:a16="http://schemas.microsoft.com/office/drawing/2014/main" id="{8A2A64EB-33D9-4418-B367-480B652B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أجل من مصمم</a:t>
            </a:r>
          </a:p>
        </p:txBody>
      </p:sp>
      <p:sp>
        <p:nvSpPr>
          <p:cNvPr id="9" name="drill">
            <a:extLst xmlns:a="http://schemas.openxmlformats.org/drawingml/2006/main">
              <a:ext uri="{FF2B5EF4-FFF2-40B4-BE49-F238E27FC236}">
                <a16:creationId xmlns:a16="http://schemas.microsoft.com/office/drawing/2014/main" id="{DCDB522D-3F55-4CCC-89FA-687249A6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66950"/>
            <a:ext cx="5619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الصف ← الحضانة ← المدينة / اللواء ← المحافظة ← الشبكة</a:t>
            </a:r>
          </a:p>
        </p:txBody>
      </p:sp>
      <p:cxnSp>
        <p:nvCxnSpPr>
          <p:cNvPr id="25" name="drill-rule"/>
          <p:cNvCxnSpPr/>
          <p:nvPr/>
        </p:nvCxnSpPr>
        <p:spPr>
          <a:xfrm xmlns:a="http://schemas.openxmlformats.org/drawingml/2006/main">
            <a:off x="5562600" y="3638550"/>
            <a:ext cx="5657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drill-body">
            <a:extLst xmlns:a="http://schemas.openxmlformats.org/drawingml/2006/main">
              <a:ext uri="{FF2B5EF4-FFF2-40B4-BE49-F238E27FC236}">
                <a16:creationId xmlns:a16="http://schemas.microsoft.com/office/drawing/2014/main" id="{E77D8D4F-2B5E-4A76-B404-A7EDC047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43350"/>
            <a:ext cx="56197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المحلي. التشغيلي السياق فقدان دون من التدخل، واحتياجات الحضور وأنماط الاستيعابية الطاقة وضغط الجغرافية الفوارق التعمق نموذج يُظهر</a:t>
            </a:r>
          </a:p>
        </p:txBody>
      </p:sp>
      <p:sp>
        <p:nvSpPr>
          <p:cNvPr id="12" name="caveat">
            <a:extLst xmlns:a="http://schemas.openxmlformats.org/drawingml/2006/main">
              <a:ext uri="{FF2B5EF4-FFF2-40B4-BE49-F238E27FC236}">
                <a16:creationId xmlns:a16="http://schemas.microsoft.com/office/drawing/2014/main" id="{81B6AD3C-3AF6-4754-A4C4-9E9C2A5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24500"/>
            <a:ext cx="5657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solidFill>
              <a:srgbClr val="FFF5D9"/>
            </a:solidFill>
            <a:prstDash val="solid"/>
          </a:ln>
        </p:spPr>
      </p:sp>
      <p:sp>
        <p:nvSpPr>
          <p:cNvPr id="13" name="coverage-caveat">
            <a:extLst xmlns:a="http://schemas.openxmlformats.org/drawingml/2006/main">
              <a:ext uri="{FF2B5EF4-FFF2-40B4-BE49-F238E27FC236}">
                <a16:creationId xmlns:a16="http://schemas.microsoft.com/office/drawing/2014/main" id="{5FB25D40-727F-4696-9255-39B84E7B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959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65000"/>
                </a:solidFill>
                <a:latin typeface="Arial"/>
                <a:ea typeface="Arial"/>
                <a:cs typeface="Arial"/>
              </a:defRPr>
            </a:pPr>
            <a:r>
              <a:t>منها. ومتحقق مكتملة بيانات على تعتمد الرؤية وجودة للإطلاق؛ هدف التغطية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5540edb1c47f9"/>
          <a:stretch xmlns:a="http://schemas.openxmlformats.org/drawingml/2006/main"/>
        </p:blipFill>
        <p:spPr>
          <a:xfrm xmlns:a="http://schemas.openxmlformats.org/drawingml/2006/main">
            <a:off x="2524125" y="409575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15" name="source-6">
            <a:extLst xmlns:a="http://schemas.openxmlformats.org/drawingml/2006/main">
              <a:ext uri="{FF2B5EF4-FFF2-40B4-BE49-F238E27FC236}">
                <a16:creationId xmlns:a16="http://schemas.microsoft.com/office/drawing/2014/main" id="{3472C15F-7434-4179-A155-AF024054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الجغرافية الأردن وبيانات الحرارية والخرائط الوطنية للاستخبارات التقني التصميم المصادر:</a:t>
            </a:r>
          </a:p>
        </p:txBody>
      </p:sp>
    </p:spTree>
    <p:extLst>
      <p:ext uri="{BB962C8B-B14F-4D97-AF65-F5344CB8AC3E}">
        <p14:creationId xmlns:p14="http://schemas.microsoft.com/office/powerpoint/2010/main" val="2051427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78F62644-4ED5-4688-A475-B4E84EF4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5E5DEED-FAE9-4EA8-B5EA-0B52929D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اليقين في المبالغة دون من القرار تدعم التقارير</a:t>
            </a:r>
          </a:p>
        </p:txBody>
      </p:sp>
      <p:cxnSp>
        <p:nvCxnSpPr>
          <p:cNvPr id="17" name="title-rule-7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9287B721-CFB7-42F9-9844-91C74DD4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rg-left-label">
            <a:extLst xmlns:a="http://schemas.openxmlformats.org/drawingml/2006/main">
              <a:ext uri="{FF2B5EF4-FFF2-40B4-BE49-F238E27FC236}">
                <a16:creationId xmlns:a16="http://schemas.microsoft.com/office/drawing/2014/main" id="{DADD7B51-A34D-4651-A4EE-33D67A29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المصلحة أصحاب عليه يحصل ما</a:t>
            </a:r>
          </a:p>
        </p:txBody>
      </p:sp>
      <p:sp>
        <p:nvSpPr>
          <p:cNvPr id="6" name="rg-left-title">
            <a:extLst xmlns:a="http://schemas.openxmlformats.org/drawingml/2006/main">
              <a:ext uri="{FF2B5EF4-FFF2-40B4-BE49-F238E27FC236}">
                <a16:creationId xmlns:a16="http://schemas.microsoft.com/office/drawing/2014/main" id="{7525CE9C-624D-436B-B103-640CB2D8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الأدوار تراعي اللغة ثنائية أدلة</a:t>
            </a:r>
          </a:p>
        </p:txBody>
      </p:sp>
      <p:sp>
        <p:nvSpPr>
          <p:cNvPr id="7" name="rg-left-body">
            <a:extLst xmlns:a="http://schemas.openxmlformats.org/drawingml/2006/main">
              <a:ext uri="{FF2B5EF4-FFF2-40B4-BE49-F238E27FC236}">
                <a16:creationId xmlns:a16="http://schemas.microsoft.com/office/drawing/2014/main" id="{8EC437F0-2ECF-46CF-97DE-091963DB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485775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للجهات مخصصة تقارير حزم •
والاتجاهات الأداء مؤشرات ملخصات •
جغرافية ومرشحات حرارية خرائط •
والصور وPDF وExcel CSV تصدير •
للحالة وتتبع مجدول توزيع •</a:t>
            </a:r>
          </a:p>
        </p:txBody>
      </p:sp>
      <p:cxnSp>
        <p:nvCxnSpPr>
          <p:cNvPr id="22" name="rg-divider"/>
          <p:cNvCxnSpPr/>
          <p:nvPr/>
        </p:nvCxnSpPr>
        <p:spPr>
          <a:xfrm xmlns:a="http://schemas.openxmlformats.org/drawingml/2006/main">
            <a:off x="5905500" y="175260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rg-right-label">
            <a:extLst xmlns:a="http://schemas.openxmlformats.org/drawingml/2006/main">
              <a:ext uri="{FF2B5EF4-FFF2-40B4-BE49-F238E27FC236}">
                <a16:creationId xmlns:a16="http://schemas.microsoft.com/office/drawing/2014/main" id="{90CA35A2-0355-4EE4-8BF0-A9ED8DB4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الثقة تُحمى كيف</a:t>
            </a:r>
          </a:p>
        </p:txBody>
      </p:sp>
      <p:sp>
        <p:nvSpPr>
          <p:cNvPr id="10" name="rg-right-title">
            <a:extLst xmlns:a="http://schemas.openxmlformats.org/drawingml/2006/main">
              <a:ext uri="{FF2B5EF4-FFF2-40B4-BE49-F238E27FC236}">
                <a16:creationId xmlns:a16="http://schemas.microsoft.com/office/drawing/2014/main" id="{8E27727D-83FA-4A17-B6FB-E90CC1B0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38375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واضحة بضوابط أدلة</a:t>
            </a:r>
          </a:p>
        </p:txBody>
      </p:sp>
      <p:sp>
        <p:nvSpPr>
          <p:cNvPr id="11" name="rg-right-body">
            <a:extLst xmlns:a="http://schemas.openxmlformats.org/drawingml/2006/main">
              <a:ext uri="{FF2B5EF4-FFF2-40B4-BE49-F238E27FC236}">
                <a16:creationId xmlns:a16="http://schemas.microsoft.com/office/drawing/2014/main" id="{F33BCC40-CF98-42DB-A493-5D5B3ABB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485775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فقط النظام لمدير الجهات مسارات •
الخصوصية لحماية الصغيرة الخلايا إخفاء •
وملاحظاتها البيانات جودة حالة •
الخادم في محسوبة قيم •
الحساسة للتغييرات تدقيق سجلات •</a:t>
            </a:r>
          </a:p>
        </p:txBody>
      </p:sp>
      <p:sp>
        <p:nvSpPr>
          <p:cNvPr id="12" name="rg-caveat">
            <a:extLst xmlns:a="http://schemas.openxmlformats.org/drawingml/2006/main">
              <a:ext uri="{FF2B5EF4-FFF2-40B4-BE49-F238E27FC236}">
                <a16:creationId xmlns:a16="http://schemas.microsoft.com/office/drawing/2014/main" id="{2901B75F-0A07-4238-B02C-B0965839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solidFill>
              <a:srgbClr val="FFF5D9"/>
            </a:solidFill>
            <a:prstDash val="solid"/>
          </a:ln>
        </p:spPr>
      </p:sp>
      <p:sp>
        <p:nvSpPr>
          <p:cNvPr id="13" name="rg-caveat-copy">
            <a:extLst xmlns:a="http://schemas.openxmlformats.org/drawingml/2006/main">
              <a:ext uri="{FF2B5EF4-FFF2-40B4-BE49-F238E27FC236}">
                <a16:creationId xmlns:a16="http://schemas.microsoft.com/office/drawing/2014/main" id="{E997D148-0FC7-4D1D-A8A0-80CF39D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5251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65000"/>
                </a:solidFill>
                <a:latin typeface="Arial"/>
                <a:ea typeface="Arial"/>
                <a:cs typeface="Arial"/>
              </a:defRPr>
            </a:pPr>
            <a:r>
              <a:t>معتمدة. وطنية إحصاءات وليست تشغيلية أدلة والتقارير الأسرة، لشؤون الوطني المجلس من اعتماداً وليس Kinjo منتج داخل تصنيف القوي» «التوافق مهم:</a:t>
            </a:r>
          </a:p>
        </p:txBody>
      </p:sp>
      <p:sp>
        <p:nvSpPr>
          <p:cNvPr id="14" name="source-7">
            <a:extLst xmlns:a="http://schemas.openxmlformats.org/drawingml/2006/main">
              <a:ext uri="{FF2B5EF4-FFF2-40B4-BE49-F238E27FC236}">
                <a16:creationId xmlns:a16="http://schemas.microsoft.com/office/drawing/2014/main" id="{632E60DD-2F39-46B3-B885-FBC00283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والحضانات المبكرة الطفولة تقارير مركز منهجية المصدر:</a:t>
            </a:r>
          </a:p>
        </p:txBody>
      </p:sp>
    </p:spTree>
    <p:extLst>
      <p:ext uri="{BB962C8B-B14F-4D97-AF65-F5344CB8AC3E}">
        <p14:creationId xmlns:p14="http://schemas.microsoft.com/office/powerpoint/2010/main" val="96325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52BE77FC-863E-40BA-95EC-CD4B0F6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5799F36-082A-490F-9DFF-99F5005D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حساس إجراء كل إلى الدخول تسجيل من البيانات ترافق الأمن ضوابط</a:t>
            </a:r>
          </a:p>
        </p:txBody>
      </p:sp>
      <p:cxnSp>
        <p:nvCxnSpPr>
          <p:cNvPr id="32" name="title-rule-8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41E07963-235F-4C62-9E12-31FBE61A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ec-intro-title">
            <a:extLst xmlns:a="http://schemas.openxmlformats.org/drawingml/2006/main">
              <a:ext uri="{FF2B5EF4-FFF2-40B4-BE49-F238E27FC236}">
                <a16:creationId xmlns:a16="http://schemas.microsoft.com/office/drawing/2014/main" id="{E23799CF-E954-47E8-B11C-B3EECEC6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4476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الطبقات متعددة الحماية</a:t>
            </a:r>
          </a:p>
        </p:txBody>
      </p:sp>
      <p:sp>
        <p:nvSpPr>
          <p:cNvPr id="6" name="sec-intro">
            <a:extLst xmlns:a="http://schemas.openxmlformats.org/drawingml/2006/main">
              <a:ext uri="{FF2B5EF4-FFF2-40B4-BE49-F238E27FC236}">
                <a16:creationId xmlns:a16="http://schemas.microsoft.com/office/drawing/2014/main" id="{6213BEEA-1AA5-4453-8C82-BEFC05F6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4476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واحد. حاجز على الاعتماد من بدلاً للتتبع القابلة والعمليات المقيد والوصول الوقائية الضوابط بين Kinjo يجمع</a:t>
            </a:r>
          </a:p>
        </p:txBody>
      </p:sp>
      <p:sp>
        <p:nvSpPr>
          <p:cNvPr id="7" name="sec-callout">
            <a:extLst xmlns:a="http://schemas.openxmlformats.org/drawingml/2006/main">
              <a:ext uri="{FF2B5EF4-FFF2-40B4-BE49-F238E27FC236}">
                <a16:creationId xmlns:a16="http://schemas.microsoft.com/office/drawing/2014/main" id="{273FD78B-57CF-432C-AF67-DACBF007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476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0">
            <a:solidFill>
              <a:srgbClr val="E7F2EC"/>
            </a:solidFill>
            <a:prstDash val="solid"/>
          </a:ln>
        </p:spPr>
      </p:sp>
      <p:sp>
        <p:nvSpPr>
          <p:cNvPr id="8" name="sec-callout-copy">
            <a:extLst xmlns:a="http://schemas.openxmlformats.org/drawingml/2006/main">
              <a:ext uri="{FF2B5EF4-FFF2-40B4-BE49-F238E27FC236}">
                <a16:creationId xmlns:a16="http://schemas.microsoft.com/office/drawing/2014/main" id="{9F7E874B-0FFA-4651-B163-A459AD53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39814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لهم. المعيّنة الحضانات حدود تجاوز المشرفون أو المديرون يستطيع ولا واضحة؛ الإدارة صلاحيات</a:t>
            </a:r>
          </a:p>
        </p:txBody>
      </p:sp>
      <p:sp>
        <p:nvSpPr>
          <p:cNvPr id="9" name="check-0">
            <a:extLst xmlns:a="http://schemas.openxmlformats.org/drawingml/2006/main">
              <a:ext uri="{FF2B5EF4-FFF2-40B4-BE49-F238E27FC236}">
                <a16:creationId xmlns:a16="http://schemas.microsoft.com/office/drawing/2014/main" id="{35A431B8-4BA7-4858-BCAB-C00A0214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10" name="checkmark-0">
            <a:extLst xmlns:a="http://schemas.openxmlformats.org/drawingml/2006/main">
              <a:ext uri="{FF2B5EF4-FFF2-40B4-BE49-F238E27FC236}">
                <a16:creationId xmlns:a16="http://schemas.microsoft.com/office/drawing/2014/main" id="{40D67B10-0E12-4F83-A7D1-365E1633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3832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1" name="sec-h-0">
            <a:extLst xmlns:a="http://schemas.openxmlformats.org/drawingml/2006/main">
              <a:ext uri="{FF2B5EF4-FFF2-40B4-BE49-F238E27FC236}">
                <a16:creationId xmlns:a16="http://schemas.microsoft.com/office/drawing/2014/main" id="{DE5E4256-53A6-4DE4-8592-CAAF79D4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الهوية</a:t>
            </a:r>
          </a:p>
        </p:txBody>
      </p:sp>
      <p:sp>
        <p:nvSpPr>
          <p:cNvPr id="12" name="sec-b-0">
            <a:extLst xmlns:a="http://schemas.openxmlformats.org/drawingml/2006/main">
              <a:ext uri="{FF2B5EF4-FFF2-40B4-BE49-F238E27FC236}">
                <a16:creationId xmlns:a16="http://schemas.microsoft.com/office/drawing/2014/main" id="{9121DEF3-B2FF-4F3A-BFA1-A20C8478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آمنة. واستعادة القفل وضبط مرور كلمات وسياسة الحساسة للأدوار العوامل متعددة مصادقة</a:t>
            </a:r>
          </a:p>
        </p:txBody>
      </p:sp>
      <p:sp>
        <p:nvSpPr>
          <p:cNvPr id="13" name="check-1">
            <a:extLst xmlns:a="http://schemas.openxmlformats.org/drawingml/2006/main">
              <a:ext uri="{FF2B5EF4-FFF2-40B4-BE49-F238E27FC236}">
                <a16:creationId xmlns:a16="http://schemas.microsoft.com/office/drawing/2014/main" id="{144E14E6-75CC-4CF8-ABCE-C0E1EA95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76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14" name="checkmark-1">
            <a:extLst xmlns:a="http://schemas.openxmlformats.org/drawingml/2006/main">
              <a:ext uri="{FF2B5EF4-FFF2-40B4-BE49-F238E27FC236}">
                <a16:creationId xmlns:a16="http://schemas.microsoft.com/office/drawing/2014/main" id="{781EBEBC-F5C2-4848-AE63-21B65D73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5747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5" name="sec-h-1">
            <a:extLst xmlns:a="http://schemas.openxmlformats.org/drawingml/2006/main">
              <a:ext uri="{FF2B5EF4-FFF2-40B4-BE49-F238E27FC236}">
                <a16:creationId xmlns:a16="http://schemas.microsoft.com/office/drawing/2014/main" id="{41C33489-DEE4-4F75-83B6-8E1928A6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الجلسة</a:t>
            </a:r>
          </a:p>
        </p:txBody>
      </p:sp>
      <p:sp>
        <p:nvSpPr>
          <p:cNvPr id="16" name="sec-b-1">
            <a:extLst xmlns:a="http://schemas.openxmlformats.org/drawingml/2006/main">
              <a:ext uri="{FF2B5EF4-FFF2-40B4-BE49-F238E27FC236}">
                <a16:creationId xmlns:a16="http://schemas.microsoft.com/office/drawing/2014/main" id="{6D2E55A4-309B-473C-A4BD-1F3E118C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2890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المصدر. وفحص CSRF وحماية العمر قصيرة ورموز HttpOnly محمي مصادقة ارتباط ملف</a:t>
            </a:r>
          </a:p>
        </p:txBody>
      </p:sp>
      <p:sp>
        <p:nvSpPr>
          <p:cNvPr id="17" name="check-2">
            <a:extLst xmlns:a="http://schemas.openxmlformats.org/drawingml/2006/main">
              <a:ext uri="{FF2B5EF4-FFF2-40B4-BE49-F238E27FC236}">
                <a16:creationId xmlns:a16="http://schemas.microsoft.com/office/drawing/2014/main" id="{21B7937F-751B-4EEE-8B54-1D96214E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95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18" name="checkmark-2">
            <a:extLst xmlns:a="http://schemas.openxmlformats.org/drawingml/2006/main">
              <a:ext uri="{FF2B5EF4-FFF2-40B4-BE49-F238E27FC236}">
                <a16:creationId xmlns:a16="http://schemas.microsoft.com/office/drawing/2014/main" id="{700A7416-E0DF-434D-A7D8-0A1BFE9A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47662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9" name="sec-h-2">
            <a:extLst xmlns:a="http://schemas.openxmlformats.org/drawingml/2006/main">
              <a:ext uri="{FF2B5EF4-FFF2-40B4-BE49-F238E27FC236}">
                <a16:creationId xmlns:a16="http://schemas.microsoft.com/office/drawing/2014/main" id="{8F48311D-EEAA-4E5F-862C-5B6AE16A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805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التفويض</a:t>
            </a:r>
          </a:p>
        </p:txBody>
      </p:sp>
      <p:sp>
        <p:nvSpPr>
          <p:cNvPr id="20" name="sec-b-2">
            <a:extLst xmlns:a="http://schemas.openxmlformats.org/drawingml/2006/main">
              <a:ext uri="{FF2B5EF4-FFF2-40B4-BE49-F238E27FC236}">
                <a16:creationId xmlns:a16="http://schemas.microsoft.com/office/drawing/2014/main" id="{F196AB37-B881-4161-9035-BBA5B2A5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4805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للكائنات. المباشر غير الوصول من وحماية الحضانة نطاق تقييد مع الدور على قائم وصول</a:t>
            </a:r>
          </a:p>
        </p:txBody>
      </p:sp>
      <p:sp>
        <p:nvSpPr>
          <p:cNvPr id="21" name="check-3">
            <a:extLst xmlns:a="http://schemas.openxmlformats.org/drawingml/2006/main">
              <a:ext uri="{FF2B5EF4-FFF2-40B4-BE49-F238E27FC236}">
                <a16:creationId xmlns:a16="http://schemas.microsoft.com/office/drawing/2014/main" id="{08FF81C0-39FC-46A2-9AB3-3ADD0B36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14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22" name="checkmark-3">
            <a:extLst xmlns:a="http://schemas.openxmlformats.org/drawingml/2006/main">
              <a:ext uri="{FF2B5EF4-FFF2-40B4-BE49-F238E27FC236}">
                <a16:creationId xmlns:a16="http://schemas.microsoft.com/office/drawing/2014/main" id="{DE1586E9-7303-4BC7-BCCA-AD6FABEE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9577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3" name="sec-h-3">
            <a:extLst xmlns:a="http://schemas.openxmlformats.org/drawingml/2006/main">
              <a:ext uri="{FF2B5EF4-FFF2-40B4-BE49-F238E27FC236}">
                <a16:creationId xmlns:a16="http://schemas.microsoft.com/office/drawing/2014/main" id="{D55FF418-929B-4485-A84C-3D97A45D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العمليات</a:t>
            </a:r>
          </a:p>
        </p:txBody>
      </p:sp>
      <p:sp>
        <p:nvSpPr>
          <p:cNvPr id="24" name="sec-b-3">
            <a:extLst xmlns:a="http://schemas.openxmlformats.org/drawingml/2006/main">
              <a:ext uri="{FF2B5EF4-FFF2-40B4-BE49-F238E27FC236}">
                <a16:creationId xmlns:a16="http://schemas.microsoft.com/office/drawing/2014/main" id="{E219E452-BC53-443F-BD36-AC876B3B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6720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الإنتاج. إعدادات من والتحقق الحساسة المسارات على الطلبات معدل تحديد</a:t>
            </a:r>
          </a:p>
        </p:txBody>
      </p:sp>
      <p:sp>
        <p:nvSpPr>
          <p:cNvPr id="25" name="check-4">
            <a:extLst xmlns:a="http://schemas.openxmlformats.org/drawingml/2006/main">
              <a:ext uri="{FF2B5EF4-FFF2-40B4-BE49-F238E27FC236}">
                <a16:creationId xmlns:a16="http://schemas.microsoft.com/office/drawing/2014/main" id="{B82A59D3-7CAA-4148-AEB9-D8770013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33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26" name="checkmark-4">
            <a:extLst xmlns:a="http://schemas.openxmlformats.org/drawingml/2006/main">
              <a:ext uri="{FF2B5EF4-FFF2-40B4-BE49-F238E27FC236}">
                <a16:creationId xmlns:a16="http://schemas.microsoft.com/office/drawing/2014/main" id="{E1D2967F-37D8-4535-8C64-C5C34EAA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14925"/>
            <a:ext cx="15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7" name="sec-h-4">
            <a:extLst xmlns:a="http://schemas.openxmlformats.org/drawingml/2006/main">
              <a:ext uri="{FF2B5EF4-FFF2-40B4-BE49-F238E27FC236}">
                <a16:creationId xmlns:a16="http://schemas.microsoft.com/office/drawing/2014/main" id="{C7762AA2-63D3-4E63-9B4E-37E0B330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86350"/>
            <a:ext cx="1714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المساءلة</a:t>
            </a:r>
          </a:p>
        </p:txBody>
      </p:sp>
      <p:sp>
        <p:nvSpPr>
          <p:cNvPr id="28" name="sec-b-4">
            <a:extLst xmlns:a="http://schemas.openxmlformats.org/drawingml/2006/main">
              <a:ext uri="{FF2B5EF4-FFF2-40B4-BE49-F238E27FC236}">
                <a16:creationId xmlns:a16="http://schemas.microsoft.com/office/drawing/2014/main" id="{7B25ADD6-C8EC-4B97-B19A-2AAD1193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8635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13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الحساسة. التغييرات وتسجيل ترابط ومعرّفات قبل/بعد تدقيق فروق</a:t>
            </a:r>
          </a:p>
        </p:txBody>
      </p:sp>
      <p:sp>
        <p:nvSpPr>
          <p:cNvPr id="29" name="source-8">
            <a:extLst xmlns:a="http://schemas.openxmlformats.org/drawingml/2006/main">
              <a:ext uri="{FF2B5EF4-FFF2-40B4-BE49-F238E27FC236}">
                <a16:creationId xmlns:a16="http://schemas.microsoft.com/office/drawing/2014/main" id="{EE2A6073-BA5A-4C85-B4C5-67BB7D89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الأمن ووحدات والسياسات الإدارة أمن تقوية تقرير المصادر:</a:t>
            </a:r>
          </a:p>
        </p:txBody>
      </p:sp>
    </p:spTree>
    <p:extLst>
      <p:ext uri="{BB962C8B-B14F-4D97-AF65-F5344CB8AC3E}">
        <p14:creationId xmlns:p14="http://schemas.microsoft.com/office/powerpoint/2010/main" val="253331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">
            <a:extLst xmlns:a="http://schemas.openxmlformats.org/drawingml/2006/main">
              <a:ext uri="{FF2B5EF4-FFF2-40B4-BE49-F238E27FC236}">
                <a16:creationId xmlns:a16="http://schemas.microsoft.com/office/drawing/2014/main" id="{E3290339-388C-43CB-A499-2F4852EF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EF8281A-F3B2-4F0F-8C59-49590AC2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الخلفي والعمل والبيانات المستخدم تجربة تفصل معيارية بنية</a:t>
            </a:r>
          </a:p>
        </p:txBody>
      </p:sp>
      <p:cxnSp>
        <p:nvCxnSpPr>
          <p:cNvPr id="30" name="title-rule-9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E5F6C16A-CB22-454A-B196-1CADF0EB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cxnSp>
        <p:nvCxnSpPr>
          <p:cNvPr id="32" name="a1"/>
          <p:cNvCxnSpPr/>
          <p:nvPr/>
        </p:nvCxnSpPr>
        <p:spPr>
          <a:xfrm xmlns:a="http://schemas.openxmlformats.org/drawingml/2006/main">
            <a:off x="2057400" y="2971800"/>
            <a:ext cx="10477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45"/>
            </a:solidFill>
            <a:prstDash val="solid"/>
          </a:ln>
        </p:spPr>
      </p:cxnSp>
      <p:cxnSp>
        <p:nvCxnSpPr>
          <p:cNvPr id="33" name="a2"/>
          <p:cNvCxnSpPr/>
          <p:nvPr/>
        </p:nvCxnSpPr>
        <p:spPr>
          <a:xfrm xmlns:a="http://schemas.openxmlformats.org/drawingml/2006/main">
            <a:off x="4724400" y="2971800"/>
            <a:ext cx="10477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45"/>
            </a:solidFill>
            <a:prstDash val="solid"/>
          </a:ln>
        </p:spPr>
      </p:cxnSp>
      <p:cxnSp>
        <p:nvCxnSpPr>
          <p:cNvPr id="34" name="a3"/>
          <p:cNvCxnSpPr/>
          <p:nvPr/>
        </p:nvCxnSpPr>
        <p:spPr>
          <a:xfrm xmlns:a="http://schemas.openxmlformats.org/drawingml/2006/main">
            <a:off x="7391400" y="2971800"/>
            <a:ext cx="10477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45"/>
            </a:solidFill>
            <a:prstDash val="solid"/>
          </a:ln>
        </p:spPr>
      </p:cxnSp>
      <p:cxnSp>
        <p:nvCxnSpPr>
          <p:cNvPr id="35" name="a4"/>
          <p:cNvCxnSpPr/>
          <p:nvPr/>
        </p:nvCxnSpPr>
        <p:spPr>
          <a:xfrm xmlns:a="http://schemas.openxmlformats.org/drawingml/2006/main">
            <a:off x="10058400" y="2971800"/>
            <a:ext cx="3048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45"/>
            </a:solidFill>
            <a:prstDash val="solid"/>
          </a:ln>
        </p:spPr>
      </p:cxnSp>
      <p:sp>
        <p:nvSpPr>
          <p:cNvPr id="9" name="arch-users">
            <a:extLst xmlns:a="http://schemas.openxmlformats.org/drawingml/2006/main">
              <a:ext uri="{FF2B5EF4-FFF2-40B4-BE49-F238E27FC236}">
                <a16:creationId xmlns:a16="http://schemas.microsoft.com/office/drawing/2014/main" id="{A196E997-6792-4569-B118-541A7EEB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6573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6B45"/>
            </a:solidFill>
            <a:prstDash val="solid"/>
          </a:ln>
        </p:spPr>
      </p:sp>
      <p:sp>
        <p:nvSpPr>
          <p:cNvPr id="10" name="arch-users-title">
            <a:extLst xmlns:a="http://schemas.openxmlformats.org/drawingml/2006/main">
              <a:ext uri="{FF2B5EF4-FFF2-40B4-BE49-F238E27FC236}">
                <a16:creationId xmlns:a16="http://schemas.microsoft.com/office/drawing/2014/main" id="{E24137CC-A0B0-4AB7-AFC4-00453AC7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المستخدمون</a:t>
            </a:r>
          </a:p>
        </p:txBody>
      </p:sp>
      <p:sp>
        <p:nvSpPr>
          <p:cNvPr id="11" name="arch-users-body">
            <a:extLst xmlns:a="http://schemas.openxmlformats.org/drawingml/2006/main">
              <a:ext uri="{FF2B5EF4-FFF2-40B4-BE49-F238E27FC236}">
                <a16:creationId xmlns:a16="http://schemas.microsoft.com/office/drawing/2014/main" id="{782B3F92-1736-4D46-94AA-A29EC336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14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إنجليزية / عربية واجهة
الدور بحسب</a:t>
            </a:r>
          </a:p>
        </p:txBody>
      </p:sp>
      <p:sp>
        <p:nvSpPr>
          <p:cNvPr id="12" name="arch-web">
            <a:extLst xmlns:a="http://schemas.openxmlformats.org/drawingml/2006/main">
              <a:ext uri="{FF2B5EF4-FFF2-40B4-BE49-F238E27FC236}">
                <a16:creationId xmlns:a16="http://schemas.microsoft.com/office/drawing/2014/main" id="{ED1C2CF8-FA33-48D0-87FA-2E23C364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57400"/>
            <a:ext cx="1619250" cy="18288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9525">
            <a:solidFill>
              <a:srgbClr val="0B6B45"/>
            </a:solidFill>
            <a:prstDash val="solid"/>
          </a:ln>
        </p:spPr>
      </p:sp>
      <p:sp>
        <p:nvSpPr>
          <p:cNvPr id="13" name="arch-web-title">
            <a:extLst xmlns:a="http://schemas.openxmlformats.org/drawingml/2006/main">
              <a:ext uri="{FF2B5EF4-FFF2-40B4-BE49-F238E27FC236}">
                <a16:creationId xmlns:a16="http://schemas.microsoft.com/office/drawing/2014/main" id="{F746676E-5C21-4D57-BD71-3850BF9E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الويب طبقة</a:t>
            </a:r>
          </a:p>
        </p:txBody>
      </p:sp>
      <p:sp>
        <p:nvSpPr>
          <p:cNvPr id="14" name="arch-web-body">
            <a:extLst xmlns:a="http://schemas.openxmlformats.org/drawingml/2006/main">
              <a:ext uri="{FF2B5EF4-FFF2-40B4-BE49-F238E27FC236}">
                <a16:creationId xmlns:a16="http://schemas.microsoft.com/office/drawing/2014/main" id="{98B6E303-79DE-4075-8898-BFC0D4B8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1238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FastAPI
Jinja2
REST + WebSockets</a:t>
            </a:r>
          </a:p>
        </p:txBody>
      </p:sp>
      <p:sp>
        <p:nvSpPr>
          <p:cNvPr id="15" name="arch-domain">
            <a:extLst xmlns:a="http://schemas.openxmlformats.org/drawingml/2006/main">
              <a:ext uri="{FF2B5EF4-FFF2-40B4-BE49-F238E27FC236}">
                <a16:creationId xmlns:a16="http://schemas.microsoft.com/office/drawing/2014/main" id="{C71FF35F-74AE-4FDB-8891-66A93B84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09750"/>
            <a:ext cx="1619250" cy="23241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arch-domain-title">
            <a:extLst xmlns:a="http://schemas.openxmlformats.org/drawingml/2006/main">
              <a:ext uri="{FF2B5EF4-FFF2-40B4-BE49-F238E27FC236}">
                <a16:creationId xmlns:a16="http://schemas.microsoft.com/office/drawing/2014/main" id="{F705908A-72D2-4AFE-BAC5-A7636B8D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123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المجال خدمات</a:t>
            </a:r>
          </a:p>
        </p:txBody>
      </p:sp>
      <p:sp>
        <p:nvSpPr>
          <p:cNvPr id="17" name="arch-domain-body">
            <a:extLst xmlns:a="http://schemas.openxmlformats.org/drawingml/2006/main">
              <a:ext uri="{FF2B5EF4-FFF2-40B4-BE49-F238E27FC236}">
                <a16:creationId xmlns:a16="http://schemas.microsoft.com/office/drawing/2014/main" id="{298B3AE1-0D86-4661-BB61-E99722B4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1238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الالتحاق
الحضور
التقارير
التحليلات
الأمن</a:t>
            </a:r>
          </a:p>
        </p:txBody>
      </p:sp>
      <p:sp>
        <p:nvSpPr>
          <p:cNvPr id="18" name="arch-data">
            <a:extLst xmlns:a="http://schemas.openxmlformats.org/drawingml/2006/main">
              <a:ext uri="{FF2B5EF4-FFF2-40B4-BE49-F238E27FC236}">
                <a16:creationId xmlns:a16="http://schemas.microsoft.com/office/drawing/2014/main" id="{B0C015E5-0D55-4EDC-80F3-7B15C7FF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619250" cy="18288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D59A12"/>
            </a:solidFill>
            <a:prstDash val="solid"/>
          </a:ln>
        </p:spPr>
      </p:sp>
      <p:sp>
        <p:nvSpPr>
          <p:cNvPr id="19" name="arch-data-title">
            <a:extLst xmlns:a="http://schemas.openxmlformats.org/drawingml/2006/main">
              <a:ext uri="{FF2B5EF4-FFF2-40B4-BE49-F238E27FC236}">
                <a16:creationId xmlns:a16="http://schemas.microsoft.com/office/drawing/2014/main" id="{103254B7-6840-4E80-8104-22496338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البيانات طبقة</a:t>
            </a:r>
          </a:p>
        </p:txBody>
      </p:sp>
      <p:sp>
        <p:nvSpPr>
          <p:cNvPr id="20" name="arch-data-body">
            <a:extLst xmlns:a="http://schemas.openxmlformats.org/drawingml/2006/main">
              <a:ext uri="{FF2B5EF4-FFF2-40B4-BE49-F238E27FC236}">
                <a16:creationId xmlns:a16="http://schemas.microsoft.com/office/drawing/2014/main" id="{5609ED16-B70A-44B8-92C6-0FAC27A1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1238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PostgreSQL
Alembic
Redis cache</a:t>
            </a:r>
          </a:p>
        </p:txBody>
      </p:sp>
      <p:sp>
        <p:nvSpPr>
          <p:cNvPr id="21" name="arch-jobs">
            <a:extLst xmlns:a="http://schemas.openxmlformats.org/drawingml/2006/main">
              <a:ext uri="{FF2B5EF4-FFF2-40B4-BE49-F238E27FC236}">
                <a16:creationId xmlns:a16="http://schemas.microsoft.com/office/drawing/2014/main" id="{54ADF53C-A588-41C5-A184-364AB6C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24100"/>
            <a:ext cx="1428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arch-jobs-title">
            <a:extLst xmlns:a="http://schemas.openxmlformats.org/drawingml/2006/main">
              <a:ext uri="{FF2B5EF4-FFF2-40B4-BE49-F238E27FC236}">
                <a16:creationId xmlns:a16="http://schemas.microsoft.com/office/drawing/2014/main" id="{A88A9BC9-F96D-4F0B-AEF7-03B4B2E0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52700"/>
            <a:ext cx="106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الخلفي العمل</a:t>
            </a:r>
          </a:p>
        </p:txBody>
      </p:sp>
      <p:sp>
        <p:nvSpPr>
          <p:cNvPr id="23" name="arch-jobs-body">
            <a:extLst xmlns:a="http://schemas.openxmlformats.org/drawingml/2006/main">
              <a:ext uri="{FF2B5EF4-FFF2-40B4-BE49-F238E27FC236}">
                <a16:creationId xmlns:a16="http://schemas.microsoft.com/office/drawing/2014/main" id="{3D3E90CA-6469-4C13-88C5-8B7AEED5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52750"/>
            <a:ext cx="106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Celery مهام
البريد • التصدير</a:t>
            </a:r>
          </a:p>
        </p:txBody>
      </p:sp>
      <p:sp>
        <p:nvSpPr>
          <p:cNvPr id="24" name="arch-ops">
            <a:extLst xmlns:a="http://schemas.openxmlformats.org/drawingml/2006/main">
              <a:ext uri="{FF2B5EF4-FFF2-40B4-BE49-F238E27FC236}">
                <a16:creationId xmlns:a16="http://schemas.microsoft.com/office/drawing/2014/main" id="{4500AC9F-FA35-4006-9FAE-A8BCA883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14900"/>
            <a:ext cx="695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2F2"/>
          </a:solidFill>
          <a:ln xmlns:a="http://schemas.openxmlformats.org/drawingml/2006/main" w="0">
            <a:solidFill>
              <a:srgbClr val="F1F2F2"/>
            </a:solidFill>
            <a:prstDash val="solid"/>
          </a:ln>
        </p:spPr>
      </p:sp>
      <p:sp>
        <p:nvSpPr>
          <p:cNvPr id="25" name="arch-ops-title">
            <a:extLst xmlns:a="http://schemas.openxmlformats.org/drawingml/2006/main">
              <a:ext uri="{FF2B5EF4-FFF2-40B4-BE49-F238E27FC236}">
                <a16:creationId xmlns:a16="http://schemas.microsoft.com/office/drawing/2014/main" id="{0161EDB9-39B5-4537-9209-99C3DFE6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435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الإنتاج عمليات</a:t>
            </a:r>
          </a:p>
        </p:txBody>
      </p:sp>
      <p:sp>
        <p:nvSpPr>
          <p:cNvPr id="26" name="arch-ops-body">
            <a:extLst xmlns:a="http://schemas.openxmlformats.org/drawingml/2006/main">
              <a:ext uri="{FF2B5EF4-FFF2-40B4-BE49-F238E27FC236}">
                <a16:creationId xmlns:a16="http://schemas.microsoft.com/office/drawing/2014/main" id="{DFEBFD59-2761-4B59-AE30-BE4ADFD8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43338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البيئة تحقق • احتياطي نسخ • تشغيلي قياس • منظم تسجيل • السلامة فحوص • Compose Docker</a:t>
            </a:r>
          </a:p>
        </p:txBody>
      </p:sp>
      <p:sp>
        <p:nvSpPr>
          <p:cNvPr id="27" name="source-9">
            <a:extLst xmlns:a="http://schemas.openxmlformats.org/drawingml/2006/main">
              <a:ext uri="{FF2B5EF4-FFF2-40B4-BE49-F238E27FC236}">
                <a16:creationId xmlns:a16="http://schemas.microsoft.com/office/drawing/2014/main" id="{99BAA985-78C6-4FC3-B2B3-9865056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والمراقبة والمهام البيانات وقاعدة الإنتاج وإعداد main.py المصادر:</a:t>
            </a:r>
          </a:p>
        </p:txBody>
      </p:sp>
    </p:spTree>
    <p:extLst>
      <p:ext uri="{BB962C8B-B14F-4D97-AF65-F5344CB8AC3E}">
        <p14:creationId xmlns:p14="http://schemas.microsoft.com/office/powerpoint/2010/main" val="10782667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0">
            <a:extLst xmlns:a="http://schemas.openxmlformats.org/drawingml/2006/main">
              <a:ext uri="{FF2B5EF4-FFF2-40B4-BE49-F238E27FC236}">
                <a16:creationId xmlns:a16="http://schemas.microsoft.com/office/drawing/2014/main" id="{B734E00F-F366-4FAC-BE47-2DEFCB20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6A22140-CD18-494F-B41A-045EEB87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الإصدار في والانضباط الاتساع تُظهر التسليم أدلة</a:t>
            </a:r>
          </a:p>
        </p:txBody>
      </p:sp>
      <p:cxnSp>
        <p:nvCxnSpPr>
          <p:cNvPr id="18" name="title-rule-10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9AC0C5A3-AE01-4784-829F-7F44B92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chart-frame">
            <a:extLst xmlns:a="http://schemas.openxmlformats.org/drawingml/2006/main">
              <a:ext uri="{FF2B5EF4-FFF2-40B4-BE49-F238E27FC236}">
                <a16:creationId xmlns:a16="http://schemas.microsoft.com/office/drawing/2014/main" id="{FC9C4F1A-18DC-4A46-8F12-CAFC897B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238875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footprint-label">
            <a:extLst xmlns:a="http://schemas.openxmlformats.org/drawingml/2006/main">
              <a:ext uri="{FF2B5EF4-FFF2-40B4-BE49-F238E27FC236}">
                <a16:creationId xmlns:a16="http://schemas.microsoft.com/office/drawing/2014/main" id="{D594AAF5-E411-4685-A056-99E68173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المستودع حجم</a:t>
            </a:r>
          </a:p>
        </p:txBody>
      </p:sp>
      <p:sp>
        <p:nvSpPr>
          <p:cNvPr id="7" name="test-stat">
            <a:extLst xmlns:a="http://schemas.openxmlformats.org/drawingml/2006/main">
              <a:ext uri="{FF2B5EF4-FFF2-40B4-BE49-F238E27FC236}">
                <a16:creationId xmlns:a16="http://schemas.microsoft.com/office/drawing/2014/main" id="{72B6BC07-2015-494F-9811-614834B6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286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3,068</a:t>
            </a:r>
          </a:p>
        </p:txBody>
      </p:sp>
      <p:sp>
        <p:nvSpPr>
          <p:cNvPr id="8" name="test-stat-label">
            <a:extLst xmlns:a="http://schemas.openxmlformats.org/drawingml/2006/main">
              <a:ext uri="{FF2B5EF4-FFF2-40B4-BE49-F238E27FC236}">
                <a16:creationId xmlns:a16="http://schemas.microsoft.com/office/drawing/2014/main" id="{5CBC777D-7420-49F5-84DE-DE3594F1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ناجحاً اختباراً</a:t>
            </a:r>
          </a:p>
        </p:txBody>
      </p:sp>
      <p:sp>
        <p:nvSpPr>
          <p:cNvPr id="9" name="test-detail">
            <a:extLst xmlns:a="http://schemas.openxmlformats.org/drawingml/2006/main">
              <a:ext uri="{FF2B5EF4-FFF2-40B4-BE49-F238E27FC236}">
                <a16:creationId xmlns:a16="http://schemas.microsoft.com/office/drawing/2014/main" id="{04221DFA-3ECB-44F6-83DB-4E8A4CFA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409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إضافي متوقع نجاح 1 • فشل 0</a:t>
            </a:r>
          </a:p>
        </p:txBody>
      </p:sp>
      <p:cxnSp>
        <p:nvCxnSpPr>
          <p:cNvPr id="25" name="test-rule"/>
          <p:cNvCxnSpPr/>
          <p:nvPr/>
        </p:nvCxnSpPr>
        <p:spPr>
          <a:xfrm xmlns:a="http://schemas.openxmlformats.org/drawingml/2006/main">
            <a:off x="7239000" y="3581400"/>
            <a:ext cx="40957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gate-stat">
            <a:extLst xmlns:a="http://schemas.openxmlformats.org/drawingml/2006/main">
              <a:ext uri="{FF2B5EF4-FFF2-40B4-BE49-F238E27FC236}">
                <a16:creationId xmlns:a16="http://schemas.microsoft.com/office/drawing/2014/main" id="{0381A8C2-7A63-484E-BF9D-CE495354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000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10 / 10</a:t>
            </a:r>
          </a:p>
        </p:txBody>
      </p:sp>
      <p:sp>
        <p:nvSpPr>
          <p:cNvPr id="12" name="gate-copy">
            <a:extLst xmlns:a="http://schemas.openxmlformats.org/drawingml/2006/main">
              <a:ext uri="{FF2B5EF4-FFF2-40B4-BE49-F238E27FC236}">
                <a16:creationId xmlns:a16="http://schemas.microsoft.com/office/drawing/2014/main" id="{00C8FE0C-3898-45E2-BB4A-D275E535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الموثقة التحقق جولة في نجحت الاختبار بيئة في مطلوبة فحوص</a:t>
            </a:r>
          </a:p>
        </p:txBody>
      </p:sp>
      <p:sp>
        <p:nvSpPr>
          <p:cNvPr id="13" name="evidence-caveat">
            <a:extLst xmlns:a="http://schemas.openxmlformats.org/drawingml/2006/main">
              <a:ext uri="{FF2B5EF4-FFF2-40B4-BE49-F238E27FC236}">
                <a16:creationId xmlns:a16="http://schemas.microsoft.com/office/drawing/2014/main" id="{15AD3B7A-2238-4A8C-8FEE-57F27DDB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095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83C3C"/>
                </a:solidFill>
                <a:latin typeface="Arial"/>
                <a:ea typeface="Arial"/>
                <a:cs typeface="Arial"/>
              </a:defRPr>
            </a:pPr>
            <a:r>
              <a:t>الحية. والتكاملات المستهدفة البيئة من التحقق عن بديلاً وليست زمنية، لقطة الجاهزية أدلة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23900" y="2419350"/>
          <a:ext xmlns:a="http://schemas.openxmlformats.org/drawingml/2006/main" cx="557212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be61c82bdd445b"/>
          </a:graphicData>
        </a:graphic>
      </p:graphicFrame>
      <p:sp>
        <p:nvSpPr>
          <p:cNvPr id="15" name="source-10">
            <a:extLst xmlns:a="http://schemas.openxmlformats.org/drawingml/2006/main">
              <a:ext uri="{FF2B5EF4-FFF2-40B4-BE49-F238E27FC236}">
                <a16:creationId xmlns:a16="http://schemas.microsoft.com/office/drawing/2014/main" id="{86AE5A2B-4B86-406A-B9DB-3ED15C4F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الاختبار بوابة من التحقق وتقرير المستودع ملفات إحصاءات المصادر:</a:t>
            </a:r>
          </a:p>
        </p:txBody>
      </p:sp>
    </p:spTree>
    <p:extLst>
      <p:ext uri="{BB962C8B-B14F-4D97-AF65-F5344CB8AC3E}">
        <p14:creationId xmlns:p14="http://schemas.microsoft.com/office/powerpoint/2010/main" val="1872322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1">
            <a:extLst xmlns:a="http://schemas.openxmlformats.org/drawingml/2006/main">
              <a:ext uri="{FF2B5EF4-FFF2-40B4-BE49-F238E27FC236}">
                <a16:creationId xmlns:a16="http://schemas.microsoft.com/office/drawing/2014/main" id="{8A0BC257-66E5-4D22-A5E8-36DA94A9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Kinjo مشروع على شاملة نظرة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47D04585-BF1F-435C-9DAA-50F5E90C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953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تشغيلية ثقة إلى التقنية الجاهزية يحوّل مضبوط إطلاق</a:t>
            </a:r>
          </a:p>
        </p:txBody>
      </p:sp>
      <p:cxnSp>
        <p:nvCxnSpPr>
          <p:cNvPr id="23" name="title-rule-11"/>
          <p:cNvCxnSpPr/>
          <p:nvPr/>
        </p:nvCxnSpPr>
        <p:spPr>
          <a:xfrm xmlns:a="http://schemas.openxmlformats.org/drawingml/2006/main">
            <a:off x="400050" y="14382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B564AB40-AB7C-40D6-A16C-6944810C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cxnSp>
        <p:nvCxnSpPr>
          <p:cNvPr id="25" name="rollout-line"/>
          <p:cNvCxnSpPr/>
          <p:nvPr/>
        </p:nvCxnSpPr>
        <p:spPr>
          <a:xfrm xmlns:a="http://schemas.openxmlformats.org/drawingml/2006/main">
            <a:off x="952500" y="3600450"/>
            <a:ext cx="9334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6B45"/>
            </a:solidFill>
            <a:prstDash val="solid"/>
          </a:ln>
        </p:spPr>
      </p:cxnSp>
      <p:sp>
        <p:nvSpPr>
          <p:cNvPr id="6" name="r-dot1">
            <a:extLst xmlns:a="http://schemas.openxmlformats.org/drawingml/2006/main">
              <a:ext uri="{FF2B5EF4-FFF2-40B4-BE49-F238E27FC236}">
                <a16:creationId xmlns:a16="http://schemas.microsoft.com/office/drawing/2014/main" id="{D8B05374-4436-4BFC-896A-EE760F65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7" name="r-dot2">
            <a:extLst xmlns:a="http://schemas.openxmlformats.org/drawingml/2006/main">
              <a:ext uri="{FF2B5EF4-FFF2-40B4-BE49-F238E27FC236}">
                <a16:creationId xmlns:a16="http://schemas.microsoft.com/office/drawing/2014/main" id="{4E0A5DFC-94B0-4FE7-B33B-8732ED65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95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5"/>
          </a:solidFill>
        </p:spPr>
      </p:sp>
      <p:sp>
        <p:nvSpPr>
          <p:cNvPr id="8" name="r-dot3">
            <a:extLst xmlns:a="http://schemas.openxmlformats.org/drawingml/2006/main">
              <a:ext uri="{FF2B5EF4-FFF2-40B4-BE49-F238E27FC236}">
                <a16:creationId xmlns:a16="http://schemas.microsoft.com/office/drawing/2014/main" id="{D88C921C-DD3C-48DF-B8BE-4F7E4CB2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95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A12"/>
          </a:solidFill>
        </p:spPr>
      </p:sp>
      <p:sp>
        <p:nvSpPr>
          <p:cNvPr id="9" name="r1l">
            <a:extLst xmlns:a="http://schemas.openxmlformats.org/drawingml/2006/main">
              <a:ext uri="{FF2B5EF4-FFF2-40B4-BE49-F238E27FC236}">
                <a16:creationId xmlns:a16="http://schemas.microsoft.com/office/drawing/2014/main" id="{A0403D14-4393-40E6-B5BA-E1FFECD7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1 المرحلة</a:t>
            </a:r>
          </a:p>
        </p:txBody>
      </p:sp>
      <p:sp>
        <p:nvSpPr>
          <p:cNvPr id="10" name="r1t">
            <a:extLst xmlns:a="http://schemas.openxmlformats.org/drawingml/2006/main">
              <a:ext uri="{FF2B5EF4-FFF2-40B4-BE49-F238E27FC236}">
                <a16:creationId xmlns:a16="http://schemas.microsoft.com/office/drawing/2014/main" id="{1A9CC526-4A7A-44AF-A943-1F3CCBE3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التجريبي التشغيل + الاختبار</a:t>
            </a:r>
          </a:p>
        </p:txBody>
      </p:sp>
      <p:sp>
        <p:nvSpPr>
          <p:cNvPr id="11" name="r1b">
            <a:extLst xmlns:a="http://schemas.openxmlformats.org/drawingml/2006/main">
              <a:ext uri="{FF2B5EF4-FFF2-40B4-BE49-F238E27FC236}">
                <a16:creationId xmlns:a16="http://schemas.microsoft.com/office/drawing/2014/main" id="{A3290AA9-6AAB-41D0-9B61-1596EE69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محدودة. مجموعة ضمن المستخدم ورحلات الاحتياطي والنسخ والتنبيهات وRedis/Celery البيانات وقاعدة الدخول بيانات من التحقق</a:t>
            </a:r>
          </a:p>
        </p:txBody>
      </p:sp>
      <p:sp>
        <p:nvSpPr>
          <p:cNvPr id="12" name="r2l">
            <a:extLst xmlns:a="http://schemas.openxmlformats.org/drawingml/2006/main">
              <a:ext uri="{FF2B5EF4-FFF2-40B4-BE49-F238E27FC236}">
                <a16:creationId xmlns:a16="http://schemas.microsoft.com/office/drawing/2014/main" id="{40A5675D-F25C-42FE-A004-BFC3137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66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2 المرحلة</a:t>
            </a:r>
          </a:p>
        </p:txBody>
      </p:sp>
      <p:sp>
        <p:nvSpPr>
          <p:cNvPr id="13" name="r2t">
            <a:extLst xmlns:a="http://schemas.openxmlformats.org/drawingml/2006/main">
              <a:ext uri="{FF2B5EF4-FFF2-40B4-BE49-F238E27FC236}">
                <a16:creationId xmlns:a16="http://schemas.microsoft.com/office/drawing/2014/main" id="{9C193797-C1D8-4D7D-A65C-CBA62006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6695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بالمحافظات دفعات على التوسع</a:t>
            </a:r>
          </a:p>
        </p:txBody>
      </p:sp>
      <p:sp>
        <p:nvSpPr>
          <p:cNvPr id="14" name="r2b">
            <a:extLst xmlns:a="http://schemas.openxmlformats.org/drawingml/2006/main">
              <a:ext uri="{FF2B5EF4-FFF2-40B4-BE49-F238E27FC236}">
                <a16:creationId xmlns:a16="http://schemas.microsoft.com/office/drawing/2014/main" id="{B5DFB963-7DC4-47A9-B202-16D2563E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6240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والتبني. الدعم مؤشرات تحقق عند فقط والتوسع الحدود، وضبط البيانات اكتمال ومراقبة الأدوار تدريب</a:t>
            </a:r>
          </a:p>
        </p:txBody>
      </p:sp>
      <p:sp>
        <p:nvSpPr>
          <p:cNvPr id="15" name="r3l">
            <a:extLst xmlns:a="http://schemas.openxmlformats.org/drawingml/2006/main">
              <a:ext uri="{FF2B5EF4-FFF2-40B4-BE49-F238E27FC236}">
                <a16:creationId xmlns:a16="http://schemas.microsoft.com/office/drawing/2014/main" id="{7036E5C0-B048-427F-B085-8DC772D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66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9A12"/>
                </a:solidFill>
                <a:latin typeface="Arial"/>
                <a:ea typeface="Arial"/>
                <a:cs typeface="Arial"/>
              </a:defRPr>
            </a:pPr>
            <a:r>
              <a:t>3 المرحلة</a:t>
            </a:r>
          </a:p>
        </p:txBody>
      </p:sp>
      <p:sp>
        <p:nvSpPr>
          <p:cNvPr id="16" name="r3t">
            <a:extLst xmlns:a="http://schemas.openxmlformats.org/drawingml/2006/main">
              <a:ext uri="{FF2B5EF4-FFF2-40B4-BE49-F238E27FC236}">
                <a16:creationId xmlns:a16="http://schemas.microsoft.com/office/drawing/2014/main" id="{25FDE673-7021-462A-B542-E1F12D69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الوطني التشغيل</a:t>
            </a:r>
          </a:p>
        </p:txBody>
      </p:sp>
      <p:sp>
        <p:nvSpPr>
          <p:cNvPr id="17" name="r3b">
            <a:extLst xmlns:a="http://schemas.openxmlformats.org/drawingml/2006/main">
              <a:ext uri="{FF2B5EF4-FFF2-40B4-BE49-F238E27FC236}">
                <a16:creationId xmlns:a16="http://schemas.microsoft.com/office/drawing/2014/main" id="{79B46B1E-4DE3-45A0-8C00-E33D8C69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3048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المؤشرات. فائدة في المستمر والتدقيق للحوادث والاستجابة الخصوصية ومراجعة الجهات وتقارير الحوكمة مأسسة</a:t>
            </a:r>
          </a:p>
        </p:txBody>
      </p:sp>
      <p:sp>
        <p:nvSpPr>
          <p:cNvPr id="18" name="risk-rail">
            <a:extLst xmlns:a="http://schemas.openxmlformats.org/drawingml/2006/main">
              <a:ext uri="{FF2B5EF4-FFF2-40B4-BE49-F238E27FC236}">
                <a16:creationId xmlns:a16="http://schemas.microsoft.com/office/drawing/2014/main" id="{65A3473A-CDE7-4952-A8F9-FD3ADA2F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489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solidFill>
              <a:srgbClr val="FFF5D9"/>
            </a:solidFill>
            <a:prstDash val="solid"/>
          </a:ln>
        </p:spPr>
      </p:sp>
      <p:sp>
        <p:nvSpPr>
          <p:cNvPr id="19" name="risk-rail-copy">
            <a:extLst xmlns:a="http://schemas.openxmlformats.org/drawingml/2006/main">
              <a:ext uri="{FF2B5EF4-FFF2-40B4-BE49-F238E27FC236}">
                <a16:creationId xmlns:a16="http://schemas.microsoft.com/office/drawing/2014/main" id="{5EDCF408-5359-4D7F-9035-209AD1D6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19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65000"/>
                </a:solidFill>
                <a:latin typeface="Arial"/>
                <a:ea typeface="Arial"/>
                <a:cs typeface="Arial"/>
              </a:defRPr>
            </a:pPr>
            <a:r>
              <a:t>المراقبة مسؤولية • التدريب اكتمال • الدعم قدرة • الوصول إمكانية • والخصوصية القانونية المراجعة • البيانات جودة الإطلاق: بوابات</a:t>
            </a:r>
          </a:p>
        </p:txBody>
      </p:sp>
      <p:sp>
        <p:nvSpPr>
          <p:cNvPr id="20" name="source-11">
            <a:extLst xmlns:a="http://schemas.openxmlformats.org/drawingml/2006/main">
              <a:ext uri="{FF2B5EF4-FFF2-40B4-BE49-F238E27FC236}">
                <a16:creationId xmlns:a16="http://schemas.microsoft.com/office/drawing/2014/main" id="{079A1F36-9DF5-43F1-B678-28F0AAAB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الجاهزية وتقارير والقيود التشغيل ودليل النشر دليل إلى استناداً مقترح إطلاق مسار</a:t>
            </a:r>
          </a:p>
        </p:txBody>
      </p:sp>
    </p:spTree>
    <p:extLst>
      <p:ext uri="{BB962C8B-B14F-4D97-AF65-F5344CB8AC3E}">
        <p14:creationId xmlns:p14="http://schemas.microsoft.com/office/powerpoint/2010/main" val="1744768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bar">
            <a:extLst xmlns:a="http://schemas.openxmlformats.org/drawingml/2006/main">
              <a:ext uri="{FF2B5EF4-FFF2-40B4-BE49-F238E27FC236}">
                <a16:creationId xmlns:a16="http://schemas.microsoft.com/office/drawing/2014/main" id="{A529BA77-F665-4114-8D51-828092B0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5"/>
          </a:solidFill>
          <a:ln xmlns:a="http://schemas.openxmlformats.org/drawingml/2006/main" w="0">
            <a:solidFill>
              <a:srgbClr val="0B6B45"/>
            </a:solidFill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7AF065D3-FE2B-4E4D-BA45-435FAB4D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القرار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60BA529-81F9-4533-BA54-766785BC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0191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للمنصة مضبوط إطلاق اعتماد
الأدلة إلى استناداً التوسع ثم</a:t>
            </a:r>
          </a:p>
        </p:txBody>
      </p:sp>
      <p:sp>
        <p:nvSpPr>
          <p:cNvPr id="4" name="close-1">
            <a:extLst xmlns:a="http://schemas.openxmlformats.org/drawingml/2006/main">
              <a:ext uri="{FF2B5EF4-FFF2-40B4-BE49-F238E27FC236}">
                <a16:creationId xmlns:a16="http://schemas.microsoft.com/office/drawing/2014/main" id="{1A63EF98-F229-4A88-9E3B-F4FE4DB9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المحدود التجريبي والتشغيل الاختبار بوابة اعتماد 1</a:t>
            </a:r>
          </a:p>
        </p:txBody>
      </p:sp>
      <p:sp>
        <p:nvSpPr>
          <p:cNvPr id="5" name="close-2">
            <a:extLst xmlns:a="http://schemas.openxmlformats.org/drawingml/2006/main">
              <a:ext uri="{FF2B5EF4-FFF2-40B4-BE49-F238E27FC236}">
                <a16:creationId xmlns:a16="http://schemas.microsoft.com/office/drawing/2014/main" id="{BD2F3619-8DE2-4CA8-B532-DD445871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581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والتدريب والعمليات والأمن البيانات عن مسؤولين تعيين 2</a:t>
            </a:r>
          </a:p>
        </p:txBody>
      </p:sp>
      <p:sp>
        <p:nvSpPr>
          <p:cNvPr id="6" name="close-3">
            <a:extLst xmlns:a="http://schemas.openxmlformats.org/drawingml/2006/main">
              <a:ext uri="{FF2B5EF4-FFF2-40B4-BE49-F238E27FC236}">
                <a16:creationId xmlns:a16="http://schemas.microsoft.com/office/drawing/2014/main" id="{0B6B4307-4A37-43BC-BD4B-ADFB57BC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619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والجودة التبني بوابات تحقق عند فقط المحافظة حسب التوسع 3</a:t>
            </a:r>
          </a:p>
        </p:txBody>
      </p:sp>
      <p:sp>
        <p:nvSpPr>
          <p:cNvPr id="7" name="close-callout">
            <a:extLst xmlns:a="http://schemas.openxmlformats.org/drawingml/2006/main">
              <a:ext uri="{FF2B5EF4-FFF2-40B4-BE49-F238E27FC236}">
                <a16:creationId xmlns:a16="http://schemas.microsoft.com/office/drawing/2014/main" id="{BD098869-65DF-477A-95EC-CACD19CE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43350"/>
            <a:ext cx="38576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0">
            <a:solidFill>
              <a:srgbClr val="E7F2EC"/>
            </a:solidFill>
            <a:prstDash val="solid"/>
          </a:ln>
        </p:spPr>
      </p:sp>
      <p:sp>
        <p:nvSpPr>
          <p:cNvPr id="8" name="close-callout-title">
            <a:extLst xmlns:a="http://schemas.openxmlformats.org/drawingml/2006/main">
              <a:ext uri="{FF2B5EF4-FFF2-40B4-BE49-F238E27FC236}">
                <a16:creationId xmlns:a16="http://schemas.microsoft.com/office/drawing/2014/main" id="{B60EADA9-FE0B-4D86-90FD-09BD41AC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3862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B6B45"/>
                </a:solidFill>
                <a:latin typeface="Arial"/>
                <a:ea typeface="Arial"/>
                <a:cs typeface="Arial"/>
              </a:defRPr>
            </a:pPr>
            <a:r>
              <a:t>لـKinjo الاستراتيجية القيمة</a:t>
            </a:r>
          </a:p>
        </p:txBody>
      </p:sp>
      <p:sp>
        <p:nvSpPr>
          <p:cNvPr id="9" name="close-callout-body">
            <a:extLst xmlns:a="http://schemas.openxmlformats.org/drawingml/2006/main">
              <a:ext uri="{FF2B5EF4-FFF2-40B4-BE49-F238E27FC236}">
                <a16:creationId xmlns:a16="http://schemas.microsoft.com/office/drawing/2014/main" id="{1AAFC86E-9383-4CA0-8348-A4E59D66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500"/>
            <a:ext cx="323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A3F2C"/>
                </a:solidFill>
                <a:latin typeface="Arial"/>
                <a:ea typeface="Arial"/>
                <a:cs typeface="Arial"/>
              </a:defRPr>
            </a:pPr>
            <a:r>
              <a:t>الوطني. والقرار والحضانة الطفل يربط مشترك أدلة نظام</a:t>
            </a:r>
          </a:p>
        </p:txBody>
      </p:sp>
      <p:sp>
        <p:nvSpPr>
          <p:cNvPr id="10" name="close-url">
            <a:extLst xmlns:a="http://schemas.openxmlformats.org/drawingml/2006/main">
              <a:ext uri="{FF2B5EF4-FFF2-40B4-BE49-F238E27FC236}">
                <a16:creationId xmlns:a16="http://schemas.microsoft.com/office/drawing/2014/main" id="{B62E76BB-8CD0-491A-ACD3-A564CAF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36A"/>
                </a:solidFill>
                <a:latin typeface="Arial"/>
                <a:ea typeface="Arial"/>
                <a:cs typeface="Arial"/>
              </a:defRPr>
            </a:pPr>
            <a:r>
              <a:t>github.com/Wael-dot-83/kinjo_v_core</a:t>
            </a:r>
          </a:p>
        </p:txBody>
      </p:sp>
    </p:spTree>
    <p:extLst>
      <p:ext uri="{BB962C8B-B14F-4D97-AF65-F5344CB8AC3E}">
        <p14:creationId xmlns:p14="http://schemas.microsoft.com/office/powerpoint/2010/main" val="616243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2026-07-15T10:06:14.4230000Z</dcterms:created>
  <dcterms:modified xsi:type="dcterms:W3CDTF">2026-07-15T10:06:14.4230000Z</dcterms:modified>
</coreProperties>
</file>